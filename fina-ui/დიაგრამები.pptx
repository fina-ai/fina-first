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36" r:id="rId3"/>
    <p:sldId id="329" r:id="rId4"/>
    <p:sldId id="331" r:id="rId5"/>
    <p:sldId id="333" r:id="rId6"/>
    <p:sldId id="32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20AC2D-5663-4EFE-8CBC-7A94CD5C3C22}">
          <p14:sldIdLst>
            <p14:sldId id="256"/>
            <p14:sldId id="336"/>
            <p14:sldId id="329"/>
            <p14:sldId id="331"/>
            <p14:sldId id="333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ia Tsotsonava" initials="NT" lastIdx="2" clrIdx="0">
    <p:extLst>
      <p:ext uri="{19B8F6BF-5375-455C-9EA6-DF929625EA0E}">
        <p15:presenceInfo xmlns:p15="http://schemas.microsoft.com/office/powerpoint/2012/main" userId="S-1-5-21-3586786687-2999777458-401758780-31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tsotsonava\AppData\Local\Microsoft\Windows\INetCache\Content.Outlook\NUV6E7NK\&#4313;&#4304;&#4318;&#4312;&#4322;&#4304;&#4314;&#4312;&#4321;%20&#4307;&#4312;&#4316;&#4304;&#4315;&#4312;&#4313;&#430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baiashvili\Desktop\Docs\Annual%20Report\Annual%20Report%202020\Chapters\Excel\6-&#4304;&#4320;&#4304;&#4321;&#4304;&#4305;&#4304;&#4316;&#4313;&#4317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tsotsonava\AppData\Local\Microsoft\Windows\INetCache\Content.Outlook\NUV6E7NK\MFOs%20&#4310;&#4317;&#4306;&#4304;&#4307;&#4312;%20&#4312;&#4316;&#4324;&#4317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tsotsonava\AppData\Local\Microsoft\Windows\INetCache\Content.Outlook\NUV6E7NK\&#4313;&#4304;&#4318;&#4312;&#4322;&#4304;&#4314;&#4312;&#4321;%20&#4321;&#4322;&#4320;&#4308;&#4321;&#4312;%20+%20&#4315;&#4317;&#4315;&#4306;&#4308;&#4305;&#4312;&#4304;&#4316;&#4317;&#4305;&#4304;%20(003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tsotsonava\AppData\Local\Microsoft\Windows\INetCache\Content.Outlook\NUV6E7NK\&#4313;&#4304;&#4318;&#4312;&#4322;&#4304;&#4314;&#4312;&#4321;%20&#4321;&#4322;&#4320;&#4308;&#4321;&#4312;%20+%20&#4315;&#4317;&#4315;&#4306;&#4308;&#4305;&#4312;&#4304;&#4316;&#4317;&#4305;&#4304;%20(003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baiashvili\Desktop\Docs\Annual%20Report\Annual%20Report%202020\Chapters\Excel\6-&#4304;&#4320;&#4304;&#4321;&#4304;&#4305;&#4304;&#4316;&#4313;&#4317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baiashvili\Desktop\Docs\Annual%20Report\Annual%20Report%202020\Chapters\Excel\6-&#4304;&#4320;&#4304;&#4321;&#4304;&#4305;&#4304;&#4316;&#4313;&#4317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03.2020%20Monthly%20presentation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&#4312;&#4320;&#4315;&#4304;&#4321;&#4311;&#4309;&#4312;&#4321;.%20&#4328;&#4308;&#4334;&#4309;&#4308;&#4307;&#4320;&#4304;%20&#4318;&#4320;&#4308;&#4310;&#4312;&#4307;&#4308;&#4316;&#4322;&#4311;&#4304;&#4316;%2021.01.2020\01.2020%20Monthly%20presentation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\\nbg-file01\NBG-Shares\FSA\FSA-Shares\3.%20Non%20Bank%20Supervision\4.%20Mikrosafinanso%20Organizaciebi\4.1.%20Microsafinanso%20Organizaciebi\4.1.14%20Presentations\&#4312;&#4320;&#4315;&#4304;&#4321;&#4311;&#4309;&#4312;&#4321;.%20&#4328;&#4308;&#4334;&#4309;&#4308;&#4307;&#4320;&#4304;%20&#4318;&#4320;&#4308;&#4310;&#4312;&#4307;&#4308;&#4316;&#4322;&#4311;&#4304;&#4316;%2021.01.2020\01.2020%20Monthly%20presentation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200"/>
              <a:t>სისტემის ბალანსის დინამიკა</a:t>
            </a:r>
            <a:endParaRPr lang="en-US" sz="120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Info!$F$14</c:f>
              <c:strCache>
                <c:ptCount val="1"/>
                <c:pt idx="0">
                  <c:v>მთლიანი აქტივები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Info!$G$13:$J$13</c:f>
              <c:strCache>
                <c:ptCount val="4"/>
                <c:pt idx="0">
                  <c:v>12.2017</c:v>
                </c:pt>
                <c:pt idx="1">
                  <c:v>12.2018</c:v>
                </c:pt>
                <c:pt idx="2">
                  <c:v>12.2019</c:v>
                </c:pt>
                <c:pt idx="3">
                  <c:v>4.2020</c:v>
                </c:pt>
              </c:strCache>
            </c:strRef>
          </c:cat>
          <c:val>
            <c:numRef>
              <c:f>Info!$G$14:$J$14</c:f>
              <c:numCache>
                <c:formatCode>General</c:formatCode>
                <c:ptCount val="4"/>
                <c:pt idx="0">
                  <c:v>1462</c:v>
                </c:pt>
                <c:pt idx="1">
                  <c:v>1459</c:v>
                </c:pt>
                <c:pt idx="2">
                  <c:v>1379</c:v>
                </c:pt>
                <c:pt idx="3" formatCode="_-* #\ ##0_-;\-* #\ ##0_-;_-* &quot;-&quot;??_-;_-@_-">
                  <c:v>1427.5427057502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14-444C-870A-9DAAB15B4BFF}"/>
            </c:ext>
          </c:extLst>
        </c:ser>
        <c:ser>
          <c:idx val="1"/>
          <c:order val="1"/>
          <c:tx>
            <c:strRef>
              <c:f>Info!$F$15</c:f>
              <c:strCache>
                <c:ptCount val="1"/>
                <c:pt idx="0">
                  <c:v>მთლიანი ვალდებულებები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Info!$G$13:$J$13</c:f>
              <c:strCache>
                <c:ptCount val="4"/>
                <c:pt idx="0">
                  <c:v>12.2017</c:v>
                </c:pt>
                <c:pt idx="1">
                  <c:v>12.2018</c:v>
                </c:pt>
                <c:pt idx="2">
                  <c:v>12.2019</c:v>
                </c:pt>
                <c:pt idx="3">
                  <c:v>4.2020</c:v>
                </c:pt>
              </c:strCache>
            </c:strRef>
          </c:cat>
          <c:val>
            <c:numRef>
              <c:f>Info!$G$15:$J$15</c:f>
              <c:numCache>
                <c:formatCode>General</c:formatCode>
                <c:ptCount val="4"/>
                <c:pt idx="0">
                  <c:v>1093</c:v>
                </c:pt>
                <c:pt idx="1">
                  <c:v>1037</c:v>
                </c:pt>
                <c:pt idx="2">
                  <c:v>902</c:v>
                </c:pt>
                <c:pt idx="3" formatCode="_-* #\ ##0_-;\-* #\ ##0_-;_-* &quot;-&quot;??_-;_-@_-">
                  <c:v>944.45964495144801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14-444C-870A-9DAAB15B4BFF}"/>
            </c:ext>
          </c:extLst>
        </c:ser>
        <c:ser>
          <c:idx val="2"/>
          <c:order val="2"/>
          <c:tx>
            <c:strRef>
              <c:f>Info!$F$16</c:f>
              <c:strCache>
                <c:ptCount val="1"/>
                <c:pt idx="0">
                  <c:v>მთლიანი კაპიტალი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Info!$G$13:$J$13</c:f>
              <c:strCache>
                <c:ptCount val="4"/>
                <c:pt idx="0">
                  <c:v>12.2017</c:v>
                </c:pt>
                <c:pt idx="1">
                  <c:v>12.2018</c:v>
                </c:pt>
                <c:pt idx="2">
                  <c:v>12.2019</c:v>
                </c:pt>
                <c:pt idx="3">
                  <c:v>4.2020</c:v>
                </c:pt>
              </c:strCache>
            </c:strRef>
          </c:cat>
          <c:val>
            <c:numRef>
              <c:f>Info!$G$16:$J$16</c:f>
              <c:numCache>
                <c:formatCode>General</c:formatCode>
                <c:ptCount val="4"/>
                <c:pt idx="0">
                  <c:v>369</c:v>
                </c:pt>
                <c:pt idx="1">
                  <c:v>422</c:v>
                </c:pt>
                <c:pt idx="2">
                  <c:v>477</c:v>
                </c:pt>
                <c:pt idx="3" formatCode="_-* #\ ##0_-;\-* #\ ##0_-;_-* &quot;-&quot;??_-;_-@_-">
                  <c:v>483.08306216289003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14-444C-870A-9DAAB15B4B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7961600"/>
        <c:axId val="1930819344"/>
      </c:barChart>
      <c:catAx>
        <c:axId val="193796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819344"/>
        <c:crosses val="autoZero"/>
        <c:auto val="1"/>
        <c:lblAlgn val="ctr"/>
        <c:lblOffset val="100"/>
        <c:noMultiLvlLbl val="0"/>
      </c:catAx>
      <c:valAx>
        <c:axId val="1930819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7961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  <a:ea typeface="+mn-ea"/>
                <a:cs typeface="+mn-cs"/>
              </a:defRPr>
            </a:pPr>
            <a:r>
              <a:rPr lang="ka-GE" sz="1000" dirty="0"/>
              <a:t>საწესდებო  კაპიტალი</a:t>
            </a:r>
            <a:r>
              <a:rPr lang="en-US" sz="1000" dirty="0"/>
              <a:t> </a:t>
            </a:r>
            <a:r>
              <a:rPr lang="ka-GE" sz="1000" dirty="0"/>
              <a:t>(მხოლოდ მოქმედი მისოების)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ylfaen" panose="010A05020503060303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Sheet1!$A$13</c:f>
              <c:strCache>
                <c:ptCount val="1"/>
                <c:pt idx="0">
                  <c:v>საწესდებო (სადამფუძნებლო) კაპიტალი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ylfaen" panose="010A050205030603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Sheet1!$B$12:$AB$12</c:f>
              <c:strCache>
                <c:ptCount val="9"/>
                <c:pt idx="0">
                  <c:v>31/03/2018</c:v>
                </c:pt>
                <c:pt idx="1">
                  <c:v>30/06/2018</c:v>
                </c:pt>
                <c:pt idx="2">
                  <c:v>30/09/2018</c:v>
                </c:pt>
                <c:pt idx="3">
                  <c:v>31/12/2018</c:v>
                </c:pt>
                <c:pt idx="4">
                  <c:v>31/03/2019</c:v>
                </c:pt>
                <c:pt idx="5">
                  <c:v>30/06/2019</c:v>
                </c:pt>
                <c:pt idx="6">
                  <c:v>30/09/2019</c:v>
                </c:pt>
                <c:pt idx="7">
                  <c:v>31/12/2019</c:v>
                </c:pt>
                <c:pt idx="8">
                  <c:v>31/03/2020</c:v>
                </c:pt>
              </c:strCache>
            </c:strRef>
          </c:cat>
          <c:val>
            <c:numRef>
              <c:f>Sheet1!$B$13:$AB$13</c:f>
              <c:numCache>
                <c:formatCode>_(* #,##0_);_(* \(#,##0\);_(* "-"??_);_(@_)</c:formatCode>
                <c:ptCount val="9"/>
                <c:pt idx="0">
                  <c:v>107150024.8</c:v>
                </c:pt>
                <c:pt idx="1">
                  <c:v>115589398.12</c:v>
                </c:pt>
                <c:pt idx="2">
                  <c:v>186078955.69</c:v>
                </c:pt>
                <c:pt idx="3">
                  <c:v>159659133.93000001</c:v>
                </c:pt>
                <c:pt idx="4">
                  <c:v>168933931.92000002</c:v>
                </c:pt>
                <c:pt idx="5">
                  <c:v>179737456.69</c:v>
                </c:pt>
                <c:pt idx="6">
                  <c:v>187397036.58999997</c:v>
                </c:pt>
                <c:pt idx="7">
                  <c:v>175829906.21999997</c:v>
                </c:pt>
                <c:pt idx="8">
                  <c:v>175263767.75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E-46F8-B787-E63AA05CA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0398192"/>
        <c:axId val="1510384880"/>
      </c:barChart>
      <c:catAx>
        <c:axId val="151039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34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  <a:ea typeface="+mn-ea"/>
                <a:cs typeface="+mn-cs"/>
              </a:defRPr>
            </a:pPr>
            <a:endParaRPr lang="en-US"/>
          </a:p>
        </c:txPr>
        <c:crossAx val="1510384880"/>
        <c:crosses val="autoZero"/>
        <c:auto val="1"/>
        <c:lblAlgn val="ctr"/>
        <c:lblOffset val="100"/>
        <c:noMultiLvlLbl val="0"/>
      </c:catAx>
      <c:valAx>
        <c:axId val="151038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ylfaen" panose="010A0502050306030303" pitchFamily="18" charset="0"/>
                <a:ea typeface="+mn-ea"/>
                <a:cs typeface="+mn-cs"/>
              </a:defRPr>
            </a:pPr>
            <a:endParaRPr lang="en-US"/>
          </a:p>
        </c:txPr>
        <c:crossAx val="151039819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lfaen" panose="010A050205030603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Sylfaen" panose="010A0502050306030303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13670166229221"/>
          <c:y val="3.1847637795275593E-2"/>
          <c:w val="0.76340726159230099"/>
          <c:h val="0.71777244094488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'6.11'!$A$17</c:f>
              <c:strCache>
                <c:ptCount val="1"/>
                <c:pt idx="0">
                  <c:v>საზედამხედველო კაპიტალი (მარცხენა ღერძი)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1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4145-48C6-B8C3-365C83B0231C}"/>
                </c:ext>
              </c:extLst>
            </c:dLbl>
            <c:dLbl>
              <c:idx val="1"/>
              <c:layout>
                <c:manualLayout>
                  <c:x val="-1.0651051008016726E-16"/>
                  <c:y val="0.325000000000000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145-48C6-B8C3-365C83B023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'6.11'!$B$16:$C$16</c:f>
              <c:numCache>
                <c:formatCode>General</c:formatCode>
                <c:ptCount val="2"/>
                <c:pt idx="0">
                  <c:v>2018</c:v>
                </c:pt>
                <c:pt idx="1">
                  <c:v>2019</c:v>
                </c:pt>
              </c:numCache>
            </c:numRef>
          </c:cat>
          <c:val>
            <c:numRef>
              <c:f>'6.11'!$B$17:$C$17</c:f>
              <c:numCache>
                <c:formatCode>_(* #,##0_);_(* \(#,##0\);_(* "-"??_);_(@_)</c:formatCode>
                <c:ptCount val="2"/>
                <c:pt idx="0">
                  <c:v>438596138.99872059</c:v>
                </c:pt>
                <c:pt idx="1">
                  <c:v>507309719.64209193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45-48C6-B8C3-365C83B02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084360"/>
        <c:axId val="699078480"/>
      </c:barChart>
      <c:lineChart>
        <c:grouping val="standard"/>
        <c:varyColors val="0"/>
        <c:ser>
          <c:idx val="1"/>
          <c:order val="1"/>
          <c:tx>
            <c:strRef>
              <c:f>'6.11'!$A$18</c:f>
              <c:strCache>
                <c:ptCount val="1"/>
                <c:pt idx="0">
                  <c:v>კაპიტალის ადეკვატურობის კოეფიციენტი (მარჯვენა ღერძი)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0555555555555555E-2"/>
                  <c:y val="-4.1666666666666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4145-48C6-B8C3-365C83B0231C}"/>
                </c:ext>
              </c:extLst>
            </c:dLbl>
            <c:dLbl>
              <c:idx val="1"/>
              <c:layout>
                <c:manualLayout>
                  <c:x val="-2.9048656499636893E-2"/>
                  <c:y val="-0.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4145-48C6-B8C3-365C83B023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'6.11'!$B$16:$C$16</c:f>
              <c:numCache>
                <c:formatCode>General</c:formatCode>
                <c:ptCount val="2"/>
                <c:pt idx="0">
                  <c:v>2018</c:v>
                </c:pt>
                <c:pt idx="1">
                  <c:v>2019</c:v>
                </c:pt>
              </c:numCache>
            </c:numRef>
          </c:cat>
          <c:val>
            <c:numRef>
              <c:f>'6.11'!$B$18:$C$18</c:f>
              <c:numCache>
                <c:formatCode>0%</c:formatCode>
                <c:ptCount val="2"/>
                <c:pt idx="0">
                  <c:v>0.30362518346127104</c:v>
                </c:pt>
                <c:pt idx="1">
                  <c:v>0.36972189665020055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145-48C6-B8C3-365C83B02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9080832"/>
        <c:axId val="699072600"/>
      </c:lineChart>
      <c:catAx>
        <c:axId val="699084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8480"/>
        <c:crosses val="autoZero"/>
        <c:auto val="1"/>
        <c:lblAlgn val="ctr"/>
        <c:lblOffset val="100"/>
        <c:noMultiLvlLbl val="0"/>
      </c:catAx>
      <c:valAx>
        <c:axId val="69907848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84360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1.9081536376580378E-2"/>
                <c:y val="0.26684763779527554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ka-GE"/>
                    <a:t>მლნ ლარი</a:t>
                  </a:r>
                  <a:endParaRPr lang="en-US"/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699072600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80832"/>
        <c:crosses val="max"/>
        <c:crossBetween val="between"/>
      </c:valAx>
      <c:catAx>
        <c:axId val="6990808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990726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3850007121202885"/>
          <c:w val="1"/>
          <c:h val="0.155492125984251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050">
                <a:solidFill>
                  <a:sysClr val="windowText" lastClr="000000"/>
                </a:solidFill>
              </a:rPr>
              <a:t>მიკროსაფინანსო</a:t>
            </a:r>
            <a:r>
              <a:rPr lang="ka-GE" sz="1050" baseline="0">
                <a:solidFill>
                  <a:sysClr val="windowText" lastClr="000000"/>
                </a:solidFill>
              </a:rPr>
              <a:t> ორგანიზაციების რაოდენობა</a:t>
            </a:r>
            <a:endParaRPr lang="en-US" sz="1050">
              <a:solidFill>
                <a:sysClr val="windowText" lastClr="000000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Sheet1!$E$17:$E$20</c:f>
              <c:strCache>
                <c:ptCount val="4"/>
                <c:pt idx="0">
                  <c:v>31/12/2017</c:v>
                </c:pt>
                <c:pt idx="1">
                  <c:v>31/12/2018</c:v>
                </c:pt>
                <c:pt idx="2">
                  <c:v>31/12/2019</c:v>
                </c:pt>
                <c:pt idx="3">
                  <c:v>30/4/2020</c:v>
                </c:pt>
              </c:strCache>
            </c:strRef>
          </c:cat>
          <c:val>
            <c:numRef>
              <c:f>Sheet1!$F$17:$F$20</c:f>
              <c:numCache>
                <c:formatCode>General</c:formatCode>
                <c:ptCount val="4"/>
                <c:pt idx="0">
                  <c:v>75</c:v>
                </c:pt>
                <c:pt idx="1">
                  <c:v>67</c:v>
                </c:pt>
                <c:pt idx="2">
                  <c:v>48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0B-4A50-82E2-5DF8134A6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0387376"/>
        <c:axId val="1510394032"/>
      </c:barChart>
      <c:catAx>
        <c:axId val="151038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0394032"/>
        <c:crosses val="autoZero"/>
        <c:auto val="1"/>
        <c:lblAlgn val="ctr"/>
        <c:lblOffset val="100"/>
        <c:noMultiLvlLbl val="0"/>
      </c:catAx>
      <c:valAx>
        <c:axId val="151039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0387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100" b="1"/>
              <a:t>საკრედიტო პორტფელი და შემოსავლიანობა</a:t>
            </a:r>
            <a:endParaRPr lang="en-US" sz="11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'[კაპიტალის სტრესი + მომგებიანობა (003).xlsx]მომგებიანობა'!$A$23</c:f>
              <c:strCache>
                <c:ptCount val="1"/>
                <c:pt idx="0">
                  <c:v>საკრედიტო პორტფელი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'[კაპიტალის სტრესი + მომგებიანობა (003).xlsx]მომგებიანობა'!$B$22:$D$22</c:f>
              <c:strCache>
                <c:ptCount val="3"/>
                <c:pt idx="0">
                  <c:v>დეკ.2018</c:v>
                </c:pt>
                <c:pt idx="1">
                  <c:v>დეკ.2019</c:v>
                </c:pt>
                <c:pt idx="2">
                  <c:v>მარ.2020</c:v>
                </c:pt>
              </c:strCache>
            </c:strRef>
          </c:cat>
          <c:val>
            <c:numRef>
              <c:f>'[კაპიტალის სტრესი + მომგებიანობა (003).xlsx]მომგებიანობა'!$B$23:$D$23</c:f>
              <c:numCache>
                <c:formatCode>_(* #,##0_);_(* \(#,##0\);_(* "-"??_);_(@_)</c:formatCode>
                <c:ptCount val="3"/>
                <c:pt idx="0">
                  <c:v>1101531375.0779188</c:v>
                </c:pt>
                <c:pt idx="1">
                  <c:v>1129140119</c:v>
                </c:pt>
                <c:pt idx="2">
                  <c:v>1150870524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6C-49E1-B665-0CB7D2F3F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2868175"/>
        <c:axId val="1752870255"/>
      </c:barChart>
      <c:lineChart>
        <c:grouping val="standard"/>
        <c:varyColors val="0"/>
        <c:ser>
          <c:idx val="1"/>
          <c:order val="1"/>
          <c:tx>
            <c:strRef>
              <c:f>'[კაპიტალის სტრესი + მომგებიანობა (003).xlsx]მომგებიანობა'!$A$24</c:f>
              <c:strCache>
                <c:ptCount val="1"/>
                <c:pt idx="0">
                  <c:v>შემოსავლიანობა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'[კაპიტალის სტრესი + მომგებიანობა (003).xlsx]მომგებიანობა'!$B$22:$D$22</c:f>
              <c:strCache>
                <c:ptCount val="3"/>
                <c:pt idx="0">
                  <c:v>დეკ.2018</c:v>
                </c:pt>
                <c:pt idx="1">
                  <c:v>დეკ.2019</c:v>
                </c:pt>
                <c:pt idx="2">
                  <c:v>მარ.2020</c:v>
                </c:pt>
              </c:strCache>
            </c:strRef>
          </c:cat>
          <c:val>
            <c:numRef>
              <c:f>'[კაპიტალის სტრესი + მომგებიანობა (003).xlsx]მომგებიანობა'!$B$24:$D$24</c:f>
              <c:numCache>
                <c:formatCode>0%</c:formatCode>
                <c:ptCount val="3"/>
                <c:pt idx="0">
                  <c:v>0.30213229794196411</c:v>
                </c:pt>
                <c:pt idx="1">
                  <c:v>0.24298344938244995</c:v>
                </c:pt>
                <c:pt idx="2">
                  <c:v>0.23440147204297279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6C-49E1-B665-0CB7D2F3F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2872335"/>
        <c:axId val="1752866927"/>
      </c:lineChart>
      <c:catAx>
        <c:axId val="1752868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2870255"/>
        <c:crosses val="autoZero"/>
        <c:auto val="1"/>
        <c:lblAlgn val="ctr"/>
        <c:lblOffset val="100"/>
        <c:noMultiLvlLbl val="0"/>
      </c:catAx>
      <c:valAx>
        <c:axId val="1752870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2868175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1752866927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2872335"/>
        <c:crosses val="max"/>
        <c:crossBetween val="between"/>
      </c:valAx>
      <c:catAx>
        <c:axId val="1752872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528669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200" b="1" dirty="0"/>
              <a:t>მარჟა და სპრედი</a:t>
            </a:r>
            <a:endParaRPr lang="en-US" sz="12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'[კაპიტალის სტრესი + მომგებიანობა (003).xlsx]მომგებიანობა'!$A$30</c:f>
              <c:strCache>
                <c:ptCount val="1"/>
                <c:pt idx="0">
                  <c:v>სპრედი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'[კაპიტალის სტრესი + მომგებიანობა (003).xlsx]მომგებიანობა'!$B$29:$D$29</c:f>
              <c:strCache>
                <c:ptCount val="3"/>
                <c:pt idx="0">
                  <c:v>დეკ.2018</c:v>
                </c:pt>
                <c:pt idx="1">
                  <c:v>დეკ.2019</c:v>
                </c:pt>
                <c:pt idx="2">
                  <c:v>მარ.2020</c:v>
                </c:pt>
              </c:strCache>
            </c:strRef>
          </c:cat>
          <c:val>
            <c:numRef>
              <c:f>'[კაპიტალის სტრესი + მომგებიანობა (003).xlsx]მომგებიანობა'!$B$30:$D$30</c:f>
              <c:numCache>
                <c:formatCode>0%</c:formatCode>
                <c:ptCount val="3"/>
                <c:pt idx="0">
                  <c:v>0.19568315937184938</c:v>
                </c:pt>
                <c:pt idx="1">
                  <c:v>0.14151461557707992</c:v>
                </c:pt>
                <c:pt idx="2">
                  <c:v>0.1183521435923896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5-4DED-AC9B-00E1A6990648}"/>
            </c:ext>
          </c:extLst>
        </c:ser>
        <c:ser>
          <c:idx val="1"/>
          <c:order val="1"/>
          <c:tx>
            <c:strRef>
              <c:f>'[კაპიტალის სტრესი + მომგებიანობა (003).xlsx]მომგებიანობა'!$A$31</c:f>
              <c:strCache>
                <c:ptCount val="1"/>
                <c:pt idx="0">
                  <c:v>მარჟა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'[კაპიტალის სტრესი + მომგებიანობა (003).xlsx]მომგებიანობა'!$B$29:$D$29</c:f>
              <c:strCache>
                <c:ptCount val="3"/>
                <c:pt idx="0">
                  <c:v>დეკ.2018</c:v>
                </c:pt>
                <c:pt idx="1">
                  <c:v>დეკ.2019</c:v>
                </c:pt>
                <c:pt idx="2">
                  <c:v>მარ.2020</c:v>
                </c:pt>
              </c:strCache>
            </c:strRef>
          </c:cat>
          <c:val>
            <c:numRef>
              <c:f>'[კაპიტალის სტრესი + მომგებიანობა (003).xlsx]მომგებიანობა'!$B$31:$D$31</c:f>
              <c:numCache>
                <c:formatCode>0%</c:formatCode>
                <c:ptCount val="3"/>
                <c:pt idx="0">
                  <c:v>0.15219198587575442</c:v>
                </c:pt>
                <c:pt idx="1">
                  <c:v>0.13483707413815155</c:v>
                </c:pt>
                <c:pt idx="2">
                  <c:v>0.12172207069839731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5-4DED-AC9B-00E1A6990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2873167"/>
        <c:axId val="1752872751"/>
      </c:barChart>
      <c:catAx>
        <c:axId val="175287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2872751"/>
        <c:crosses val="autoZero"/>
        <c:auto val="1"/>
        <c:lblAlgn val="ctr"/>
        <c:lblOffset val="100"/>
        <c:noMultiLvlLbl val="0"/>
      </c:catAx>
      <c:valAx>
        <c:axId val="1752872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2873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48403324584427"/>
          <c:y val="5.0925925925925923E-2"/>
          <c:w val="0.75608770778652667"/>
          <c:h val="0.6263336136381011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'6.13-6.14'!$C$48</c:f>
              <c:strCache>
                <c:ptCount val="1"/>
                <c:pt idx="0">
                  <c:v>საპროცენტო ხარჯები (მარცხენა ღერძი)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'6.13-6.14'!$D$46:$F$46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'6.13-6.14'!$D$48:$F$48</c:f>
              <c:numCache>
                <c:formatCode>_(* #,##0_);_(* \(#,##0\);_(* "-"??_);_(@_)</c:formatCode>
                <c:ptCount val="3"/>
                <c:pt idx="0">
                  <c:v>99349250.489999995</c:v>
                </c:pt>
                <c:pt idx="1">
                  <c:v>102605662.67030001</c:v>
                </c:pt>
                <c:pt idx="2">
                  <c:v>85226080.478699997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F1-46BE-AD36-029B7BA70358}"/>
            </c:ext>
          </c:extLst>
        </c:ser>
        <c:ser>
          <c:idx val="2"/>
          <c:order val="2"/>
          <c:tx>
            <c:strRef>
              <c:f>'6.13-6.14'!$C$49</c:f>
              <c:strCache>
                <c:ptCount val="1"/>
                <c:pt idx="0">
                  <c:v>საპროცენტო ხასიათის ვალდებულებები (საშუალო) (მარცხენა ღერძი)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971014492753624E-3"/>
                  <c:y val="0.1947565543071161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B3F1-46BE-AD36-029B7BA70358}"/>
                </c:ext>
              </c:extLst>
            </c:dLbl>
            <c:dLbl>
              <c:idx val="1"/>
              <c:layout>
                <c:manualLayout>
                  <c:x val="-8.6956521739130436E-3"/>
                  <c:y val="8.988764044943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B3F1-46BE-AD36-029B7BA70358}"/>
                </c:ext>
              </c:extLst>
            </c:dLbl>
            <c:dLbl>
              <c:idx val="2"/>
              <c:layout>
                <c:manualLayout>
                  <c:x val="-1.0627896549303646E-16"/>
                  <c:y val="0.1100187757429197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3F1-46BE-AD36-029B7BA703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'6.13-6.14'!$D$46:$F$46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'6.13-6.14'!$D$49:$F$49</c:f>
              <c:numCache>
                <c:formatCode>_(* #,##0_);_(* \(#,##0\);_(* "-"??_);_(@_)</c:formatCode>
                <c:ptCount val="3"/>
                <c:pt idx="0">
                  <c:v>1004120778.8882585</c:v>
                </c:pt>
                <c:pt idx="1">
                  <c:v>887308968.46900964</c:v>
                </c:pt>
                <c:pt idx="2">
                  <c:v>860818898.28621221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F1-46BE-AD36-029B7BA70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99078872"/>
        <c:axId val="699079656"/>
      </c:barChart>
      <c:lineChart>
        <c:grouping val="standard"/>
        <c:varyColors val="0"/>
        <c:ser>
          <c:idx val="0"/>
          <c:order val="0"/>
          <c:tx>
            <c:strRef>
              <c:f>'6.13-6.14'!$C$47</c:f>
              <c:strCache>
                <c:ptCount val="1"/>
                <c:pt idx="0">
                  <c:v>სახსრების ღირებულება (მარჯვენა ღერძი)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3333333333333333E-2"/>
                  <c:y val="-5.0925925925925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B3F1-46BE-AD36-029B7BA70358}"/>
                </c:ext>
              </c:extLst>
            </c:dLbl>
            <c:dLbl>
              <c:idx val="1"/>
              <c:layout>
                <c:manualLayout>
                  <c:x val="-4.7222222222222221E-2"/>
                  <c:y val="-4.62962962962963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B3F1-46BE-AD36-029B7BA70358}"/>
                </c:ext>
              </c:extLst>
            </c:dLbl>
            <c:dLbl>
              <c:idx val="2"/>
              <c:layout>
                <c:manualLayout>
                  <c:x val="-2.5000000000000102E-2"/>
                  <c:y val="-1.85185185185185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B3F1-46BE-AD36-029B7BA703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'6.13-6.14'!$D$46:$F$46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'6.13-6.14'!$D$47:$F$47</c:f>
              <c:numCache>
                <c:formatCode>0.0%</c:formatCode>
                <c:ptCount val="3"/>
                <c:pt idx="0">
                  <c:v>9.8941534304267068E-2</c:v>
                </c:pt>
                <c:pt idx="1">
                  <c:v>0.11563690474958119</c:v>
                </c:pt>
                <c:pt idx="2">
                  <c:v>9.900581951485378E-2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3F1-46BE-AD36-029B7BA70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9075736"/>
        <c:axId val="699080048"/>
      </c:lineChart>
      <c:catAx>
        <c:axId val="699078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9656"/>
        <c:crosses val="autoZero"/>
        <c:auto val="1"/>
        <c:lblAlgn val="ctr"/>
        <c:lblOffset val="100"/>
        <c:noMultiLvlLbl val="0"/>
      </c:catAx>
      <c:valAx>
        <c:axId val="69907965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8872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1.1892046102932787E-2"/>
                <c:y val="0.23070138704572041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ka-GE"/>
                    <a:t>მლნ ლარი</a:t>
                  </a:r>
                  <a:endParaRPr lang="en-US"/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699080048"/>
        <c:scaling>
          <c:orientation val="minMax"/>
          <c:min val="0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5736"/>
        <c:crosses val="max"/>
        <c:crossBetween val="between"/>
      </c:valAx>
      <c:catAx>
        <c:axId val="6990757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990800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388793792080339E-3"/>
          <c:y val="0.7575552327803684"/>
          <c:w val="0.99310144927536237"/>
          <c:h val="0.242444767219631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17823133119191"/>
          <c:y val="5.4794520547945202E-2"/>
          <c:w val="0.75401188208874614"/>
          <c:h val="0.458650327159809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'6.13-6.14'!$E$52</c:f>
              <c:strCache>
                <c:ptCount val="1"/>
                <c:pt idx="0">
                  <c:v>საპროცენტო ხარჯები (მარცხენა ღერძი)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'6.13-6.14'!$D$53:$D$55</c:f>
              <c:strCache>
                <c:ptCount val="3"/>
                <c:pt idx="0">
                  <c:v>ბანკები და საფინანსო ორგანიზაციები</c:v>
                </c:pt>
                <c:pt idx="1">
                  <c:v>ფიზიკური პირები</c:v>
                </c:pt>
                <c:pt idx="2">
                  <c:v>იურიდიული პირები</c:v>
                </c:pt>
              </c:strCache>
            </c:strRef>
          </c:cat>
          <c:val>
            <c:numRef>
              <c:f>'6.13-6.14'!$E$53:$E$55</c:f>
              <c:numCache>
                <c:formatCode>_(* #,##0_);_(* \(#,##0\);_(* "-"??_);_(@_)</c:formatCode>
                <c:ptCount val="3"/>
                <c:pt idx="0">
                  <c:v>54309008.32</c:v>
                </c:pt>
                <c:pt idx="1">
                  <c:v>18943098.1587</c:v>
                </c:pt>
                <c:pt idx="2">
                  <c:v>11973974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45-4CDC-B63D-883DC987E9B8}"/>
            </c:ext>
          </c:extLst>
        </c:ser>
        <c:ser>
          <c:idx val="1"/>
          <c:order val="1"/>
          <c:tx>
            <c:strRef>
              <c:f>'6.13-6.14'!$F$52</c:f>
              <c:strCache>
                <c:ptCount val="1"/>
                <c:pt idx="0">
                  <c:v>მიღებული სახსრები (მარცხენა ღერძი)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'6.13-6.14'!$D$53:$D$55</c:f>
              <c:strCache>
                <c:ptCount val="3"/>
                <c:pt idx="0">
                  <c:v>ბანკები და საფინანსო ორგანიზაციები</c:v>
                </c:pt>
                <c:pt idx="1">
                  <c:v>ფიზიკური პირები</c:v>
                </c:pt>
                <c:pt idx="2">
                  <c:v>იურიდიული პირები</c:v>
                </c:pt>
              </c:strCache>
            </c:strRef>
          </c:cat>
          <c:val>
            <c:numRef>
              <c:f>'6.13-6.14'!$F$53:$F$55</c:f>
              <c:numCache>
                <c:formatCode>_(* #,##0_);_(* \(#,##0\);_(* "-"??_);_(@_)</c:formatCode>
                <c:ptCount val="3"/>
                <c:pt idx="0">
                  <c:v>536283060.52586389</c:v>
                </c:pt>
                <c:pt idx="1">
                  <c:v>209152770.15812796</c:v>
                </c:pt>
                <c:pt idx="2">
                  <c:v>115383067.60222036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45-4CDC-B63D-883DC987E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072992"/>
        <c:axId val="699074952"/>
      </c:barChart>
      <c:lineChart>
        <c:grouping val="standard"/>
        <c:varyColors val="0"/>
        <c:ser>
          <c:idx val="2"/>
          <c:order val="2"/>
          <c:tx>
            <c:strRef>
              <c:f>'6.13-6.14'!$G$52</c:f>
              <c:strCache>
                <c:ptCount val="1"/>
                <c:pt idx="0">
                  <c:v>სახსრების ღირებულება (მარჯვენა ღერძი)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7.5090252707581226E-2"/>
                  <c:y val="-2.98879202988792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B945-4CDC-B63D-883DC987E9B8}"/>
                </c:ext>
              </c:extLst>
            </c:dLbl>
            <c:dLbl>
              <c:idx val="1"/>
              <c:layout>
                <c:manualLayout>
                  <c:x val="-1.7328519855595668E-2"/>
                  <c:y val="2.988792029887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945-4CDC-B63D-883DC987E9B8}"/>
                </c:ext>
              </c:extLst>
            </c:dLbl>
            <c:dLbl>
              <c:idx val="2"/>
              <c:layout>
                <c:manualLayout>
                  <c:x val="-2.5992779783393503E-2"/>
                  <c:y val="-2.98879202988792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B945-4CDC-B63D-883DC987E9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'6.13-6.14'!$D$53:$D$55</c:f>
              <c:strCache>
                <c:ptCount val="3"/>
                <c:pt idx="0">
                  <c:v>ბანკები და საფინანსო ორგანიზაციები</c:v>
                </c:pt>
                <c:pt idx="1">
                  <c:v>ფიზიკური პირები</c:v>
                </c:pt>
                <c:pt idx="2">
                  <c:v>იურიდიული პირები</c:v>
                </c:pt>
              </c:strCache>
            </c:strRef>
          </c:cat>
          <c:val>
            <c:numRef>
              <c:f>'6.13-6.14'!$G$53:$G$55</c:f>
              <c:numCache>
                <c:formatCode>0%</c:formatCode>
                <c:ptCount val="3"/>
                <c:pt idx="0">
                  <c:v>0.10126929660382361</c:v>
                </c:pt>
                <c:pt idx="1">
                  <c:v>9.0570629996333543E-2</c:v>
                </c:pt>
                <c:pt idx="2">
                  <c:v>0.10377583339420229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945-4CDC-B63D-883DC987E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9074560"/>
        <c:axId val="699076520"/>
      </c:lineChart>
      <c:catAx>
        <c:axId val="69907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4952"/>
        <c:crosses val="autoZero"/>
        <c:auto val="1"/>
        <c:lblAlgn val="ctr"/>
        <c:lblOffset val="100"/>
        <c:noMultiLvlLbl val="0"/>
      </c:catAx>
      <c:valAx>
        <c:axId val="69907495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2992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3.1768953068592058E-2"/>
                <c:y val="0.11955168119551682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ka-GE"/>
                    <a:t>მლნ ლარი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699076520"/>
        <c:scaling>
          <c:orientation val="minMax"/>
          <c:min val="0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074560"/>
        <c:crosses val="max"/>
        <c:crossBetween val="between"/>
      </c:valAx>
      <c:catAx>
        <c:axId val="6990745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990765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2697916370561954E-3"/>
          <c:y val="0.7508555515243035"/>
          <c:w val="0.98991307314022592"/>
          <c:h val="0.249144448475696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/>
              <a:t>მთლიანი სესხები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'Total Assets'!$A$3</c:f>
              <c:strCache>
                <c:ptCount val="1"/>
                <c:pt idx="0">
                  <c:v>მთლიანი სესხები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'Total Assets'!$B$2:$S$2</c:f>
              <c:strCache>
                <c:ptCount val="18"/>
                <c:pt idx="0">
                  <c:v>12.2017</c:v>
                </c:pt>
                <c:pt idx="1">
                  <c:v>12.2018</c:v>
                </c:pt>
                <c:pt idx="2">
                  <c:v>1.2019</c:v>
                </c:pt>
                <c:pt idx="3">
                  <c:v>2.2019</c:v>
                </c:pt>
                <c:pt idx="4">
                  <c:v>3.2019</c:v>
                </c:pt>
                <c:pt idx="5">
                  <c:v>4.2019</c:v>
                </c:pt>
                <c:pt idx="6">
                  <c:v>5.2019</c:v>
                </c:pt>
                <c:pt idx="7">
                  <c:v>6.2019</c:v>
                </c:pt>
                <c:pt idx="8">
                  <c:v>7.2019</c:v>
                </c:pt>
                <c:pt idx="9">
                  <c:v>8.2019</c:v>
                </c:pt>
                <c:pt idx="10">
                  <c:v>9.2019</c:v>
                </c:pt>
                <c:pt idx="11">
                  <c:v>10.2019</c:v>
                </c:pt>
                <c:pt idx="12">
                  <c:v>11.2019</c:v>
                </c:pt>
                <c:pt idx="13">
                  <c:v>12.2019</c:v>
                </c:pt>
                <c:pt idx="14">
                  <c:v>1.2020</c:v>
                </c:pt>
                <c:pt idx="15">
                  <c:v>2.2020</c:v>
                </c:pt>
                <c:pt idx="16">
                  <c:v>3.2020</c:v>
                </c:pt>
                <c:pt idx="17">
                  <c:v>4.2020</c:v>
                </c:pt>
              </c:strCache>
            </c:strRef>
          </c:cat>
          <c:val>
            <c:numRef>
              <c:f>'Total Assets'!$B$3:$S$3</c:f>
              <c:numCache>
                <c:formatCode>_-* #\ ##0\ _₾_-;\-* #\ ##0\ _₾_-;_-* "-"??\ _₾_-;_-@_-</c:formatCode>
                <c:ptCount val="18"/>
                <c:pt idx="0">
                  <c:v>1095999106.5309689</c:v>
                </c:pt>
                <c:pt idx="1">
                  <c:v>1101110840.7779188</c:v>
                </c:pt>
                <c:pt idx="2">
                  <c:v>1067379469.256609</c:v>
                </c:pt>
                <c:pt idx="3">
                  <c:v>1053387210.6544101</c:v>
                </c:pt>
                <c:pt idx="4">
                  <c:v>1145736351.8345327</c:v>
                </c:pt>
                <c:pt idx="5">
                  <c:v>1112106006.4594989</c:v>
                </c:pt>
                <c:pt idx="6">
                  <c:v>1110897204.4428003</c:v>
                </c:pt>
                <c:pt idx="7">
                  <c:v>1080548267.8133459</c:v>
                </c:pt>
                <c:pt idx="8">
                  <c:v>1090700743.0349262</c:v>
                </c:pt>
                <c:pt idx="9">
                  <c:v>1084464836.3092401</c:v>
                </c:pt>
                <c:pt idx="10">
                  <c:v>1097882712.013308</c:v>
                </c:pt>
                <c:pt idx="11">
                  <c:v>1081438816.5742483</c:v>
                </c:pt>
                <c:pt idx="12">
                  <c:v>1098128250.2465043</c:v>
                </c:pt>
                <c:pt idx="13">
                  <c:v>1129140118.7175946</c:v>
                </c:pt>
                <c:pt idx="14">
                  <c:v>1128510914.4664955</c:v>
                </c:pt>
                <c:pt idx="15">
                  <c:v>1141860265.213141</c:v>
                </c:pt>
                <c:pt idx="16">
                  <c:v>1150870524.0605886</c:v>
                </c:pt>
                <c:pt idx="17">
                  <c:v>1131444605.2546201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B-4846-B226-6325483CFD94}"/>
            </c:ext>
          </c:extLst>
        </c:ser>
        <c:ser>
          <c:idx val="1"/>
          <c:order val="1"/>
          <c:tx>
            <c:strRef>
              <c:f>'Total Assets'!$A$4</c:f>
              <c:strCache>
                <c:ptCount val="1"/>
                <c:pt idx="0">
                  <c:v>სესხების შესაძლო დანაკარგების რეზერვი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'Total Assets'!$B$2:$S$2</c:f>
              <c:strCache>
                <c:ptCount val="18"/>
                <c:pt idx="0">
                  <c:v>12.2017</c:v>
                </c:pt>
                <c:pt idx="1">
                  <c:v>12.2018</c:v>
                </c:pt>
                <c:pt idx="2">
                  <c:v>1.2019</c:v>
                </c:pt>
                <c:pt idx="3">
                  <c:v>2.2019</c:v>
                </c:pt>
                <c:pt idx="4">
                  <c:v>3.2019</c:v>
                </c:pt>
                <c:pt idx="5">
                  <c:v>4.2019</c:v>
                </c:pt>
                <c:pt idx="6">
                  <c:v>5.2019</c:v>
                </c:pt>
                <c:pt idx="7">
                  <c:v>6.2019</c:v>
                </c:pt>
                <c:pt idx="8">
                  <c:v>7.2019</c:v>
                </c:pt>
                <c:pt idx="9">
                  <c:v>8.2019</c:v>
                </c:pt>
                <c:pt idx="10">
                  <c:v>9.2019</c:v>
                </c:pt>
                <c:pt idx="11">
                  <c:v>10.2019</c:v>
                </c:pt>
                <c:pt idx="12">
                  <c:v>11.2019</c:v>
                </c:pt>
                <c:pt idx="13">
                  <c:v>12.2019</c:v>
                </c:pt>
                <c:pt idx="14">
                  <c:v>1.2020</c:v>
                </c:pt>
                <c:pt idx="15">
                  <c:v>2.2020</c:v>
                </c:pt>
                <c:pt idx="16">
                  <c:v>3.2020</c:v>
                </c:pt>
                <c:pt idx="17">
                  <c:v>4.2020</c:v>
                </c:pt>
              </c:strCache>
            </c:strRef>
          </c:cat>
          <c:val>
            <c:numRef>
              <c:f>'Total Assets'!$B$4:$S$4</c:f>
              <c:numCache>
                <c:formatCode>_-* #\ ##0\ _₾_-;\-* #\ ##0\ _₾_-;_-* "-"??\ _₾_-;_-@_-</c:formatCode>
                <c:ptCount val="18"/>
                <c:pt idx="0">
                  <c:v>60475099.683250792</c:v>
                </c:pt>
                <c:pt idx="1">
                  <c:v>72795293.951101243</c:v>
                </c:pt>
                <c:pt idx="2">
                  <c:v>76134704.829873636</c:v>
                </c:pt>
                <c:pt idx="3">
                  <c:v>75682305.518328279</c:v>
                </c:pt>
                <c:pt idx="4">
                  <c:v>164378255.26174378</c:v>
                </c:pt>
                <c:pt idx="5">
                  <c:v>145478120.54153559</c:v>
                </c:pt>
                <c:pt idx="6">
                  <c:v>145576599.35849375</c:v>
                </c:pt>
                <c:pt idx="7">
                  <c:v>121423108.47033757</c:v>
                </c:pt>
                <c:pt idx="8">
                  <c:v>112243264.52819107</c:v>
                </c:pt>
                <c:pt idx="9">
                  <c:v>114268899.96304585</c:v>
                </c:pt>
                <c:pt idx="10">
                  <c:v>115681471.238699</c:v>
                </c:pt>
                <c:pt idx="11">
                  <c:v>85404132.18251057</c:v>
                </c:pt>
                <c:pt idx="12">
                  <c:v>81453561.983078137</c:v>
                </c:pt>
                <c:pt idx="13">
                  <c:v>78855893.251891822</c:v>
                </c:pt>
                <c:pt idx="14">
                  <c:v>75859546.283486202</c:v>
                </c:pt>
                <c:pt idx="15">
                  <c:v>74852411.199744195</c:v>
                </c:pt>
                <c:pt idx="16">
                  <c:v>74011281.434143007</c:v>
                </c:pt>
                <c:pt idx="17">
                  <c:v>84667562.495422497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9B-4846-B226-6325483CF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6705487"/>
        <c:axId val="726710479"/>
      </c:barChart>
      <c:lineChart>
        <c:grouping val="standard"/>
        <c:varyColors val="0"/>
        <c:ser>
          <c:idx val="2"/>
          <c:order val="2"/>
          <c:tx>
            <c:strRef>
              <c:f>'Total Assets'!$A$5</c:f>
              <c:strCache>
                <c:ptCount val="1"/>
                <c:pt idx="0">
                  <c:v>რეზერვის წილი მთლიან სესხებში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'Total Assets'!$B$2:$S$2</c:f>
              <c:strCache>
                <c:ptCount val="18"/>
                <c:pt idx="0">
                  <c:v>12.2017</c:v>
                </c:pt>
                <c:pt idx="1">
                  <c:v>12.2018</c:v>
                </c:pt>
                <c:pt idx="2">
                  <c:v>1.2019</c:v>
                </c:pt>
                <c:pt idx="3">
                  <c:v>2.2019</c:v>
                </c:pt>
                <c:pt idx="4">
                  <c:v>3.2019</c:v>
                </c:pt>
                <c:pt idx="5">
                  <c:v>4.2019</c:v>
                </c:pt>
                <c:pt idx="6">
                  <c:v>5.2019</c:v>
                </c:pt>
                <c:pt idx="7">
                  <c:v>6.2019</c:v>
                </c:pt>
                <c:pt idx="8">
                  <c:v>7.2019</c:v>
                </c:pt>
                <c:pt idx="9">
                  <c:v>8.2019</c:v>
                </c:pt>
                <c:pt idx="10">
                  <c:v>9.2019</c:v>
                </c:pt>
                <c:pt idx="11">
                  <c:v>10.2019</c:v>
                </c:pt>
                <c:pt idx="12">
                  <c:v>11.2019</c:v>
                </c:pt>
                <c:pt idx="13">
                  <c:v>12.2019</c:v>
                </c:pt>
                <c:pt idx="14">
                  <c:v>1.2020</c:v>
                </c:pt>
                <c:pt idx="15">
                  <c:v>2.2020</c:v>
                </c:pt>
                <c:pt idx="16">
                  <c:v>3.2020</c:v>
                </c:pt>
                <c:pt idx="17">
                  <c:v>4.2020</c:v>
                </c:pt>
              </c:strCache>
            </c:strRef>
          </c:cat>
          <c:val>
            <c:numRef>
              <c:f>'Total Assets'!$B$5:$S$5</c:f>
              <c:numCache>
                <c:formatCode>0%</c:formatCode>
                <c:ptCount val="18"/>
                <c:pt idx="0">
                  <c:v>5.5178055641546264E-2</c:v>
                </c:pt>
                <c:pt idx="1">
                  <c:v>6.6110777639490345E-2</c:v>
                </c:pt>
                <c:pt idx="2">
                  <c:v>7.1328620254330635E-2</c:v>
                </c:pt>
                <c:pt idx="3">
                  <c:v>7.1846615140989917E-2</c:v>
                </c:pt>
                <c:pt idx="4">
                  <c:v>0.14346952944151964</c:v>
                </c:pt>
                <c:pt idx="5">
                  <c:v>0.13081317760766331</c:v>
                </c:pt>
                <c:pt idx="6">
                  <c:v>0.1310441675217929</c:v>
                </c:pt>
                <c:pt idx="7">
                  <c:v>0.1123717580113804</c:v>
                </c:pt>
                <c:pt idx="8">
                  <c:v>0.10290931334278632</c:v>
                </c:pt>
                <c:pt idx="9">
                  <c:v>0.1053689304965731</c:v>
                </c:pt>
                <c:pt idx="10">
                  <c:v>0.10536778653391964</c:v>
                </c:pt>
                <c:pt idx="11">
                  <c:v>7.8972689784754899E-2</c:v>
                </c:pt>
                <c:pt idx="12">
                  <c:v>7.4174908044478141E-2</c:v>
                </c:pt>
                <c:pt idx="13">
                  <c:v>6.9837119366063544E-2</c:v>
                </c:pt>
                <c:pt idx="14">
                  <c:v>6.7220923883885397E-2</c:v>
                </c:pt>
                <c:pt idx="15">
                  <c:v>6.5553039614503233E-2</c:v>
                </c:pt>
                <c:pt idx="16">
                  <c:v>6.430895560085316E-2</c:v>
                </c:pt>
                <c:pt idx="17">
                  <c:v>7.4831381140722242E-2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9B-4846-B226-6325483CF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4216368"/>
        <c:axId val="284212208"/>
      </c:lineChart>
      <c:catAx>
        <c:axId val="726705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710479"/>
        <c:crosses val="autoZero"/>
        <c:auto val="1"/>
        <c:lblAlgn val="ctr"/>
        <c:lblOffset val="100"/>
        <c:noMultiLvlLbl val="0"/>
      </c:catAx>
      <c:valAx>
        <c:axId val="726710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₾_-;\-* #\ ##0\ _₾_-;_-* &quot;-&quot;??\ _₾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6705487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28421220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216368"/>
        <c:crosses val="max"/>
        <c:crossBetween val="between"/>
      </c:valAx>
      <c:catAx>
        <c:axId val="2842163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2122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/>
              <a:t>პორტფელის</a:t>
            </a:r>
            <a:r>
              <a:rPr lang="ka-GE" baseline="0"/>
              <a:t> ხარისხი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NPL!$A$17</c:f>
              <c:strCache>
                <c:ptCount val="1"/>
                <c:pt idx="0">
                  <c:v>NPL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NPL!$C$16:$S$16</c:f>
              <c:strCache>
                <c:ptCount val="17"/>
                <c:pt idx="0">
                  <c:v>12.2018</c:v>
                </c:pt>
                <c:pt idx="1">
                  <c:v>1.2019</c:v>
                </c:pt>
                <c:pt idx="2">
                  <c:v>2.2019</c:v>
                </c:pt>
                <c:pt idx="3">
                  <c:v>3.2019</c:v>
                </c:pt>
                <c:pt idx="4">
                  <c:v>4.2019</c:v>
                </c:pt>
                <c:pt idx="5">
                  <c:v>5.2019</c:v>
                </c:pt>
                <c:pt idx="6">
                  <c:v>6.2019</c:v>
                </c:pt>
                <c:pt idx="7">
                  <c:v>7.2019</c:v>
                </c:pt>
                <c:pt idx="8">
                  <c:v>8.2019</c:v>
                </c:pt>
                <c:pt idx="9">
                  <c:v>9.2019</c:v>
                </c:pt>
                <c:pt idx="10">
                  <c:v>10.2019</c:v>
                </c:pt>
                <c:pt idx="11">
                  <c:v>11.2019</c:v>
                </c:pt>
                <c:pt idx="12">
                  <c:v>12.2019</c:v>
                </c:pt>
                <c:pt idx="13">
                  <c:v>1.2020</c:v>
                </c:pt>
                <c:pt idx="14">
                  <c:v>2.2020</c:v>
                </c:pt>
                <c:pt idx="15">
                  <c:v>3.2020</c:v>
                </c:pt>
                <c:pt idx="16">
                  <c:v>04.2020</c:v>
                </c:pt>
              </c:strCache>
            </c:strRef>
          </c:cat>
          <c:val>
            <c:numRef>
              <c:f>NPL!$C$17:$S$17</c:f>
              <c:numCache>
                <c:formatCode>_-* #\ ##0_-;\-* #\ ##0_-;_-* "-"??_-;_-@_-</c:formatCode>
                <c:ptCount val="17"/>
                <c:pt idx="0">
                  <c:v>89767459.998302966</c:v>
                </c:pt>
                <c:pt idx="1">
                  <c:v>90721592.424415082</c:v>
                </c:pt>
                <c:pt idx="2">
                  <c:v>98819745.668340161</c:v>
                </c:pt>
                <c:pt idx="3">
                  <c:v>199667406.42463279</c:v>
                </c:pt>
                <c:pt idx="4">
                  <c:v>176415878.02971596</c:v>
                </c:pt>
                <c:pt idx="5">
                  <c:v>172492919.90943962</c:v>
                </c:pt>
                <c:pt idx="6">
                  <c:v>145087325.62271678</c:v>
                </c:pt>
                <c:pt idx="7">
                  <c:v>128051354.35012004</c:v>
                </c:pt>
                <c:pt idx="8">
                  <c:v>133778013.3578842</c:v>
                </c:pt>
                <c:pt idx="9">
                  <c:v>136815238.39719883</c:v>
                </c:pt>
                <c:pt idx="10">
                  <c:v>103608769.37638855</c:v>
                </c:pt>
                <c:pt idx="11">
                  <c:v>96062199.85235092</c:v>
                </c:pt>
                <c:pt idx="12">
                  <c:v>93704267.786094531</c:v>
                </c:pt>
                <c:pt idx="13">
                  <c:v>89941252.187279835</c:v>
                </c:pt>
                <c:pt idx="14">
                  <c:v>89580243.76364392</c:v>
                </c:pt>
                <c:pt idx="15">
                  <c:v>89885613.239539474</c:v>
                </c:pt>
                <c:pt idx="16">
                  <c:v>98550937.34201026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02-4863-ADDE-26A729DC43EB}"/>
            </c:ext>
          </c:extLst>
        </c:ser>
        <c:ser>
          <c:idx val="1"/>
          <c:order val="1"/>
          <c:tx>
            <c:strRef>
              <c:f>NPL!$A$18</c:f>
              <c:strCache>
                <c:ptCount val="1"/>
                <c:pt idx="0">
                  <c:v>მთლიანი სესხები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NPL!$C$16:$S$16</c:f>
              <c:strCache>
                <c:ptCount val="17"/>
                <c:pt idx="0">
                  <c:v>12.2018</c:v>
                </c:pt>
                <c:pt idx="1">
                  <c:v>1.2019</c:v>
                </c:pt>
                <c:pt idx="2">
                  <c:v>2.2019</c:v>
                </c:pt>
                <c:pt idx="3">
                  <c:v>3.2019</c:v>
                </c:pt>
                <c:pt idx="4">
                  <c:v>4.2019</c:v>
                </c:pt>
                <c:pt idx="5">
                  <c:v>5.2019</c:v>
                </c:pt>
                <c:pt idx="6">
                  <c:v>6.2019</c:v>
                </c:pt>
                <c:pt idx="7">
                  <c:v>7.2019</c:v>
                </c:pt>
                <c:pt idx="8">
                  <c:v>8.2019</c:v>
                </c:pt>
                <c:pt idx="9">
                  <c:v>9.2019</c:v>
                </c:pt>
                <c:pt idx="10">
                  <c:v>10.2019</c:v>
                </c:pt>
                <c:pt idx="11">
                  <c:v>11.2019</c:v>
                </c:pt>
                <c:pt idx="12">
                  <c:v>12.2019</c:v>
                </c:pt>
                <c:pt idx="13">
                  <c:v>1.2020</c:v>
                </c:pt>
                <c:pt idx="14">
                  <c:v>2.2020</c:v>
                </c:pt>
                <c:pt idx="15">
                  <c:v>3.2020</c:v>
                </c:pt>
                <c:pt idx="16">
                  <c:v>04.2020</c:v>
                </c:pt>
              </c:strCache>
            </c:strRef>
          </c:cat>
          <c:val>
            <c:numRef>
              <c:f>NPL!$C$18:$S$18</c:f>
              <c:numCache>
                <c:formatCode>_-* #\ ##0_-;\-* #\ ##0_-;_-* "-"??_-;_-@_-</c:formatCode>
                <c:ptCount val="17"/>
                <c:pt idx="0">
                  <c:v>1072807131.9090054</c:v>
                </c:pt>
                <c:pt idx="1">
                  <c:v>1044059300.4517558</c:v>
                </c:pt>
                <c:pt idx="2">
                  <c:v>1040722106.6620882</c:v>
                </c:pt>
                <c:pt idx="3">
                  <c:v>1135739093.6189737</c:v>
                </c:pt>
                <c:pt idx="4">
                  <c:v>1099332684.7084911</c:v>
                </c:pt>
                <c:pt idx="5">
                  <c:v>1100811000.704258</c:v>
                </c:pt>
                <c:pt idx="6">
                  <c:v>1075262834.069164</c:v>
                </c:pt>
                <c:pt idx="7">
                  <c:v>1080106865.1107066</c:v>
                </c:pt>
                <c:pt idx="8">
                  <c:v>1073781240.9297853</c:v>
                </c:pt>
                <c:pt idx="9">
                  <c:v>1086800858.4885051</c:v>
                </c:pt>
                <c:pt idx="10">
                  <c:v>1080928775.0568566</c:v>
                </c:pt>
                <c:pt idx="11">
                  <c:v>1098128248.0331576</c:v>
                </c:pt>
                <c:pt idx="12">
                  <c:v>1129140118.8937659</c:v>
                </c:pt>
                <c:pt idx="13">
                  <c:v>1128510913.3167553</c:v>
                </c:pt>
                <c:pt idx="14">
                  <c:v>1141860263.9384623</c:v>
                </c:pt>
                <c:pt idx="15">
                  <c:v>1150870523.1428244</c:v>
                </c:pt>
                <c:pt idx="16">
                  <c:v>1131444605.3031104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02-4863-ADDE-26A729DC43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4051984"/>
        <c:axId val="2034043248"/>
      </c:barChart>
      <c:lineChart>
        <c:grouping val="standard"/>
        <c:varyColors val="0"/>
        <c:ser>
          <c:idx val="2"/>
          <c:order val="2"/>
          <c:tx>
            <c:strRef>
              <c:f>NPL!$A$19</c:f>
              <c:strCache>
                <c:ptCount val="1"/>
                <c:pt idx="0">
                  <c:v>NPL-ის წილი მთლიან სესხებში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15"/>
              <c:layout>
                <c:manualLayout>
                  <c:x val="-6.1111111111111109E-2"/>
                  <c:y val="-6.018518518518527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9002-4863-ADDE-26A729DC43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NPL!$C$16:$S$16</c:f>
              <c:strCache>
                <c:ptCount val="17"/>
                <c:pt idx="0">
                  <c:v>12.2018</c:v>
                </c:pt>
                <c:pt idx="1">
                  <c:v>1.2019</c:v>
                </c:pt>
                <c:pt idx="2">
                  <c:v>2.2019</c:v>
                </c:pt>
                <c:pt idx="3">
                  <c:v>3.2019</c:v>
                </c:pt>
                <c:pt idx="4">
                  <c:v>4.2019</c:v>
                </c:pt>
                <c:pt idx="5">
                  <c:v>5.2019</c:v>
                </c:pt>
                <c:pt idx="6">
                  <c:v>6.2019</c:v>
                </c:pt>
                <c:pt idx="7">
                  <c:v>7.2019</c:v>
                </c:pt>
                <c:pt idx="8">
                  <c:v>8.2019</c:v>
                </c:pt>
                <c:pt idx="9">
                  <c:v>9.2019</c:v>
                </c:pt>
                <c:pt idx="10">
                  <c:v>10.2019</c:v>
                </c:pt>
                <c:pt idx="11">
                  <c:v>11.2019</c:v>
                </c:pt>
                <c:pt idx="12">
                  <c:v>12.2019</c:v>
                </c:pt>
                <c:pt idx="13">
                  <c:v>1.2020</c:v>
                </c:pt>
                <c:pt idx="14">
                  <c:v>2.2020</c:v>
                </c:pt>
                <c:pt idx="15">
                  <c:v>3.2020</c:v>
                </c:pt>
                <c:pt idx="16">
                  <c:v>04.2020</c:v>
                </c:pt>
              </c:strCache>
            </c:strRef>
          </c:cat>
          <c:val>
            <c:numRef>
              <c:f>NPL!$C$19:$S$19</c:f>
              <c:numCache>
                <c:formatCode>0.00%</c:formatCode>
                <c:ptCount val="17"/>
                <c:pt idx="0">
                  <c:v>8.3675301299094049E-2</c:v>
                </c:pt>
                <c:pt idx="1">
                  <c:v>8.6893141400263954E-2</c:v>
                </c:pt>
                <c:pt idx="2">
                  <c:v>9.4953057147296599E-2</c:v>
                </c:pt>
                <c:pt idx="3">
                  <c:v>0.17580393907935576</c:v>
                </c:pt>
                <c:pt idx="4">
                  <c:v>0.16047542339423482</c:v>
                </c:pt>
                <c:pt idx="5">
                  <c:v>0.15669621742432177</c:v>
                </c:pt>
                <c:pt idx="6">
                  <c:v>0.13493196363316723</c:v>
                </c:pt>
                <c:pt idx="7">
                  <c:v>0.11855433798857977</c:v>
                </c:pt>
                <c:pt idx="8">
                  <c:v>0.12458591029402419</c:v>
                </c:pt>
                <c:pt idx="9">
                  <c:v>0.12588804777673618</c:v>
                </c:pt>
                <c:pt idx="10">
                  <c:v>9.5851615543252375E-2</c:v>
                </c:pt>
                <c:pt idx="11">
                  <c:v>8.7478124731247567E-2</c:v>
                </c:pt>
                <c:pt idx="12">
                  <c:v>8.2987280513863851E-2</c:v>
                </c:pt>
                <c:pt idx="13">
                  <c:v>7.9699053970986936E-2</c:v>
                </c:pt>
                <c:pt idx="14">
                  <c:v>7.8451143798162357E-2</c:v>
                </c:pt>
                <c:pt idx="15">
                  <c:v>7.8102281214117567E-2</c:v>
                </c:pt>
                <c:pt idx="16">
                  <c:v>8.7101866834752184E-2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002-4863-ADDE-26A729DC43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3929664"/>
        <c:axId val="2026764096"/>
      </c:lineChart>
      <c:catAx>
        <c:axId val="2034051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4043248"/>
        <c:crosses val="autoZero"/>
        <c:auto val="1"/>
        <c:lblAlgn val="ctr"/>
        <c:lblOffset val="100"/>
        <c:noMultiLvlLbl val="0"/>
      </c:catAx>
      <c:valAx>
        <c:axId val="203404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405198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2026764096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3929664"/>
        <c:crosses val="max"/>
        <c:crossBetween val="between"/>
      </c:valAx>
      <c:catAx>
        <c:axId val="8239296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267640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/>
              <a:t>პორტფელის სტრუქტურა</a:t>
            </a:r>
            <a:endParaRPr lang="en-US"/>
          </a:p>
        </c:rich>
      </c:tx>
      <c:layout>
        <c:manualLayout>
          <c:xMode val="edge"/>
          <c:yMode val="edge"/>
          <c:x val="0.50379206647752039"/>
          <c:y val="3.3970276008492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F4-421C-A6EC-9E2B89D09F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F4-421C-A6EC-9E2B89D09F8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5F4-421C-A6EC-9E2B89D09F8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5F4-421C-A6EC-9E2B89D09F8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5F4-421C-A6EC-9E2B89D09F8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5F4-421C-A6EC-9E2B89D09F8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5F4-421C-A6EC-9E2B89D09F85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85F4-421C-A6EC-9E2B89D09F85}"/>
              </c:ext>
            </c:extLst>
          </c:dPt>
          <c:dLbls>
            <c:dLbl>
              <c:idx val="3"/>
              <c:layout>
                <c:manualLayout>
                  <c:x val="-9.367716535433071E-2"/>
                  <c:y val="0.10396945173519977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85F4-421C-A6EC-9E2B89D09F85}"/>
                </c:ext>
              </c:extLst>
            </c:dLbl>
            <c:dLbl>
              <c:idx val="4"/>
              <c:layout>
                <c:manualLayout>
                  <c:x val="-0.17745122484689413"/>
                  <c:y val="5.822543015456396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85F4-421C-A6EC-9E2B89D09F85}"/>
                </c:ext>
              </c:extLst>
            </c:dLbl>
            <c:dLbl>
              <c:idx val="5"/>
              <c:layout>
                <c:manualLayout>
                  <c:x val="-0.10345372820300298"/>
                  <c:y val="2.383302405670627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85F4-421C-A6EC-9E2B89D09F8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5F4-421C-A6EC-9E2B89D09F8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5F4-421C-A6EC-9E2B89D09F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'loans by prod.'!$A$18:$A$25</c:f>
              <c:strCache>
                <c:ptCount val="8"/>
                <c:pt idx="0">
                  <c:v>ლომბარდი</c:v>
                </c:pt>
                <c:pt idx="1">
                  <c:v>სამომხმარებლო სესხები</c:v>
                </c:pt>
                <c:pt idx="2">
                  <c:v>ვაჭრობა და მომსახურება </c:v>
                </c:pt>
                <c:pt idx="3">
                  <c:v>სოფლის მეურნეობა </c:v>
                </c:pt>
                <c:pt idx="4">
                  <c:v>განვადება</c:v>
                </c:pt>
                <c:pt idx="5">
                  <c:v>იურიდიულ პირებზე გაცემული სესხები</c:v>
                </c:pt>
                <c:pt idx="6">
                  <c:v>ონლაინ სესხები</c:v>
                </c:pt>
                <c:pt idx="7">
                  <c:v>სხვა</c:v>
                </c:pt>
              </c:strCache>
            </c:strRef>
          </c:cat>
          <c:val>
            <c:numRef>
              <c:f>'loans by prod.'!$B$18:$B$25</c:f>
              <c:numCache>
                <c:formatCode>0%</c:formatCode>
                <c:ptCount val="8"/>
                <c:pt idx="0">
                  <c:v>0.39696843413177352</c:v>
                </c:pt>
                <c:pt idx="1">
                  <c:v>0.23695758798850666</c:v>
                </c:pt>
                <c:pt idx="2">
                  <c:v>0.17690071980477998</c:v>
                </c:pt>
                <c:pt idx="3">
                  <c:v>9.2138060293110016E-2</c:v>
                </c:pt>
                <c:pt idx="4">
                  <c:v>3.2188231203986555E-2</c:v>
                </c:pt>
                <c:pt idx="5">
                  <c:v>3.2900816183186819E-2</c:v>
                </c:pt>
                <c:pt idx="6">
                  <c:v>2.2921091221299605E-2</c:v>
                </c:pt>
                <c:pt idx="7">
                  <c:v>9.0250591733568863E-3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5F4-421C-A6EC-9E2B89D09F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/>
              <a:t>დოლარიზაცია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დოლარიზაცია!$A$3</c:f>
              <c:strCache>
                <c:ptCount val="1"/>
                <c:pt idx="0">
                  <c:v>საკრედიტო პორტფელი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დოლარიზაცია!$B$2:$F$2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 აპრილი</c:v>
                </c:pt>
              </c:strCache>
            </c:strRef>
          </c:cat>
          <c:val>
            <c:numRef>
              <c:f>დოლარიზაცია!$B$3:$F$3</c:f>
              <c:numCache>
                <c:formatCode>0%</c:formatCode>
                <c:ptCount val="5"/>
                <c:pt idx="0">
                  <c:v>0.54</c:v>
                </c:pt>
                <c:pt idx="1">
                  <c:v>0.27</c:v>
                </c:pt>
                <c:pt idx="2">
                  <c:v>0.16</c:v>
                </c:pt>
                <c:pt idx="3">
                  <c:v>0.1</c:v>
                </c:pt>
                <c:pt idx="4">
                  <c:v>9.5212586638637034E-2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F3-406F-AE51-FA246305AFA1}"/>
            </c:ext>
          </c:extLst>
        </c:ser>
        <c:ser>
          <c:idx val="1"/>
          <c:order val="1"/>
          <c:tx>
            <c:strRef>
              <c:f>დოლარიზაცია!$A$4</c:f>
              <c:strCache>
                <c:ptCount val="1"/>
                <c:pt idx="0">
                  <c:v>მთლიანი აქტივები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დოლარიზაცია!$B$2:$F$2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 აპრილი</c:v>
                </c:pt>
              </c:strCache>
            </c:strRef>
          </c:cat>
          <c:val>
            <c:numRef>
              <c:f>დოლარიზაცია!$B$4:$F$4</c:f>
              <c:numCache>
                <c:formatCode>0%</c:formatCode>
                <c:ptCount val="5"/>
                <c:pt idx="0">
                  <c:v>0.56999999999999995</c:v>
                </c:pt>
                <c:pt idx="1">
                  <c:v>0.33</c:v>
                </c:pt>
                <c:pt idx="2">
                  <c:v>0.27</c:v>
                </c:pt>
                <c:pt idx="3">
                  <c:v>0.18</c:v>
                </c:pt>
                <c:pt idx="4">
                  <c:v>0.18827665859652362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F3-406F-AE51-FA246305AFA1}"/>
            </c:ext>
          </c:extLst>
        </c:ser>
        <c:ser>
          <c:idx val="2"/>
          <c:order val="2"/>
          <c:tx>
            <c:strRef>
              <c:f>დოლარიზაცია!$A$5</c:f>
              <c:strCache>
                <c:ptCount val="1"/>
                <c:pt idx="0">
                  <c:v>მთლიანი ვალდებულებები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დოლარიზაცია!$B$2:$F$2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 აპრილი</c:v>
                </c:pt>
              </c:strCache>
            </c:strRef>
          </c:cat>
          <c:val>
            <c:numRef>
              <c:f>დოლარიზაცია!$B$5:$F$5</c:f>
              <c:numCache>
                <c:formatCode>0%</c:formatCode>
                <c:ptCount val="5"/>
                <c:pt idx="0">
                  <c:v>0.71</c:v>
                </c:pt>
                <c:pt idx="1">
                  <c:v>0.62</c:v>
                </c:pt>
                <c:pt idx="2">
                  <c:v>0.55000000000000004</c:v>
                </c:pt>
                <c:pt idx="3">
                  <c:v>0.52</c:v>
                </c:pt>
                <c:pt idx="4">
                  <c:v>0.57160395165858202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F3-406F-AE51-FA246305A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6501183"/>
        <c:axId val="276504927"/>
      </c:lineChart>
      <c:catAx>
        <c:axId val="276501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504927"/>
        <c:crosses val="autoZero"/>
        <c:auto val="1"/>
        <c:lblAlgn val="ctr"/>
        <c:lblOffset val="100"/>
        <c:noMultiLvlLbl val="0"/>
      </c:catAx>
      <c:valAx>
        <c:axId val="276504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501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100" b="1" i="0" baseline="0">
                <a:effectLst/>
              </a:rPr>
              <a:t>ფ.პირებისგან მოზიდული სახსრების დინამიკა</a:t>
            </a:r>
            <a:endParaRPr lang="en-US" sz="1100" b="1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Creditors!$A$2</c:f>
              <c:strCache>
                <c:ptCount val="1"/>
                <c:pt idx="0">
                  <c:v>ფ/პ სახსრები</c:v>
                </c:pt>
              </c:strCache>
            </c:strRef>
          </c:tx>
          <c:marker>
            <c:symbol val="none"/>
          </c:marker>
          <c:cat>
            <c:numRef>
              <c:f>Creditors!$B$1:$AD$1</c:f>
              <c:numCache>
                <c:formatCode>m/d/yyyy</c:formatCode>
                <c:ptCount val="29"/>
                <c:pt idx="0">
                  <c:v>43100</c:v>
                </c:pt>
                <c:pt idx="1">
                  <c:v>43131</c:v>
                </c:pt>
                <c:pt idx="2">
                  <c:v>43159</c:v>
                </c:pt>
                <c:pt idx="3">
                  <c:v>43190</c:v>
                </c:pt>
                <c:pt idx="4">
                  <c:v>43220</c:v>
                </c:pt>
                <c:pt idx="5">
                  <c:v>43251</c:v>
                </c:pt>
                <c:pt idx="6">
                  <c:v>43281</c:v>
                </c:pt>
                <c:pt idx="7">
                  <c:v>43312</c:v>
                </c:pt>
                <c:pt idx="8">
                  <c:v>43343</c:v>
                </c:pt>
                <c:pt idx="9">
                  <c:v>43373</c:v>
                </c:pt>
                <c:pt idx="10">
                  <c:v>43404</c:v>
                </c:pt>
                <c:pt idx="11">
                  <c:v>43434</c:v>
                </c:pt>
                <c:pt idx="12">
                  <c:v>43465</c:v>
                </c:pt>
                <c:pt idx="13">
                  <c:v>43496</c:v>
                </c:pt>
                <c:pt idx="14">
                  <c:v>43524</c:v>
                </c:pt>
                <c:pt idx="15">
                  <c:v>43555</c:v>
                </c:pt>
                <c:pt idx="16">
                  <c:v>43585</c:v>
                </c:pt>
                <c:pt idx="17">
                  <c:v>43616</c:v>
                </c:pt>
                <c:pt idx="18">
                  <c:v>43646</c:v>
                </c:pt>
                <c:pt idx="19">
                  <c:v>43677</c:v>
                </c:pt>
                <c:pt idx="20">
                  <c:v>43708</c:v>
                </c:pt>
                <c:pt idx="21">
                  <c:v>43738</c:v>
                </c:pt>
                <c:pt idx="22">
                  <c:v>43769</c:v>
                </c:pt>
                <c:pt idx="23">
                  <c:v>43799</c:v>
                </c:pt>
                <c:pt idx="24">
                  <c:v>43830</c:v>
                </c:pt>
                <c:pt idx="25">
                  <c:v>43861</c:v>
                </c:pt>
                <c:pt idx="26">
                  <c:v>43890</c:v>
                </c:pt>
                <c:pt idx="27">
                  <c:v>43921</c:v>
                </c:pt>
                <c:pt idx="28">
                  <c:v>43951</c:v>
                </c:pt>
              </c:numCache>
            </c:numRef>
          </c:cat>
          <c:val>
            <c:numRef>
              <c:f>Creditors!$B$2:$AD$2</c:f>
              <c:numCache>
                <c:formatCode>_-* #\ ##0_-;\-* #\ ##0_-;_-* "-"??_-;_-@_-</c:formatCode>
                <c:ptCount val="29"/>
                <c:pt idx="0">
                  <c:v>327501571.49999797</c:v>
                </c:pt>
                <c:pt idx="1">
                  <c:v>311275620.66917205</c:v>
                </c:pt>
                <c:pt idx="2">
                  <c:v>306638051.97068006</c:v>
                </c:pt>
                <c:pt idx="3">
                  <c:v>295133398.8191461</c:v>
                </c:pt>
                <c:pt idx="4">
                  <c:v>294519108.67592204</c:v>
                </c:pt>
                <c:pt idx="5">
                  <c:v>291740212.97032893</c:v>
                </c:pt>
                <c:pt idx="6">
                  <c:v>312128172.67703044</c:v>
                </c:pt>
                <c:pt idx="7">
                  <c:v>298990481.28358608</c:v>
                </c:pt>
                <c:pt idx="8">
                  <c:v>290037283.1758219</c:v>
                </c:pt>
                <c:pt idx="9">
                  <c:v>275386754.54544783</c:v>
                </c:pt>
                <c:pt idx="10">
                  <c:v>248577876.28532696</c:v>
                </c:pt>
                <c:pt idx="11">
                  <c:v>235262770.01493037</c:v>
                </c:pt>
                <c:pt idx="12">
                  <c:v>225172949.37873602</c:v>
                </c:pt>
                <c:pt idx="13">
                  <c:v>218058116.89101797</c:v>
                </c:pt>
                <c:pt idx="14">
                  <c:v>208482887.6713931</c:v>
                </c:pt>
                <c:pt idx="15">
                  <c:v>202536273.474839</c:v>
                </c:pt>
                <c:pt idx="16">
                  <c:v>206848267.007599</c:v>
                </c:pt>
                <c:pt idx="17">
                  <c:v>204159292.93267304</c:v>
                </c:pt>
                <c:pt idx="18">
                  <c:v>200736905.51576513</c:v>
                </c:pt>
                <c:pt idx="19">
                  <c:v>207459925.14768311</c:v>
                </c:pt>
                <c:pt idx="20">
                  <c:v>199726058.87474707</c:v>
                </c:pt>
                <c:pt idx="21">
                  <c:v>205545499.56869596</c:v>
                </c:pt>
                <c:pt idx="22">
                  <c:v>204524767.35090801</c:v>
                </c:pt>
                <c:pt idx="23">
                  <c:v>207504674.64796007</c:v>
                </c:pt>
                <c:pt idx="24">
                  <c:v>194880613.93751997</c:v>
                </c:pt>
                <c:pt idx="25">
                  <c:v>193949053.44650203</c:v>
                </c:pt>
                <c:pt idx="26">
                  <c:v>187361814.1617949</c:v>
                </c:pt>
                <c:pt idx="27">
                  <c:v>194486130.95089003</c:v>
                </c:pt>
                <c:pt idx="28">
                  <c:v>188463255.065772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16-4F96-9D74-7C5BD109F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8111680"/>
        <c:axId val="1968108768"/>
      </c:lineChart>
      <c:dateAx>
        <c:axId val="1968111680"/>
        <c:scaling>
          <c:orientation val="minMax"/>
        </c:scaling>
        <c:delete val="0"/>
        <c:axPos val="b"/>
        <c:numFmt formatCode="mm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8108768"/>
        <c:crosses val="autoZero"/>
        <c:auto val="1"/>
        <c:lblOffset val="100"/>
        <c:baseTimeUnit val="months"/>
        <c:majorUnit val="1"/>
        <c:majorTimeUnit val="months"/>
      </c:dateAx>
      <c:valAx>
        <c:axId val="1968108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8111680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100" b="1" i="0" baseline="0">
                <a:effectLst/>
              </a:rPr>
              <a:t>კრედიტორი ფიზ/პირების რაოდენობა</a:t>
            </a:r>
            <a:endParaRPr lang="en-US" sz="1100" b="1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Creditors!$A$3</c:f>
              <c:strCache>
                <c:ptCount val="1"/>
                <c:pt idx="0">
                  <c:v>ფ/პ სახსრები (რაოდ)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Creditors!$B$1:$AD$1</c:f>
              <c:numCache>
                <c:formatCode>m/d/yyyy</c:formatCode>
                <c:ptCount val="29"/>
                <c:pt idx="0">
                  <c:v>43100</c:v>
                </c:pt>
                <c:pt idx="1">
                  <c:v>43131</c:v>
                </c:pt>
                <c:pt idx="2">
                  <c:v>43159</c:v>
                </c:pt>
                <c:pt idx="3">
                  <c:v>43190</c:v>
                </c:pt>
                <c:pt idx="4">
                  <c:v>43220</c:v>
                </c:pt>
                <c:pt idx="5">
                  <c:v>43251</c:v>
                </c:pt>
                <c:pt idx="6">
                  <c:v>43281</c:v>
                </c:pt>
                <c:pt idx="7">
                  <c:v>43312</c:v>
                </c:pt>
                <c:pt idx="8">
                  <c:v>43343</c:v>
                </c:pt>
                <c:pt idx="9">
                  <c:v>43373</c:v>
                </c:pt>
                <c:pt idx="10">
                  <c:v>43404</c:v>
                </c:pt>
                <c:pt idx="11">
                  <c:v>43434</c:v>
                </c:pt>
                <c:pt idx="12">
                  <c:v>43465</c:v>
                </c:pt>
                <c:pt idx="13">
                  <c:v>43496</c:v>
                </c:pt>
                <c:pt idx="14">
                  <c:v>43524</c:v>
                </c:pt>
                <c:pt idx="15">
                  <c:v>43555</c:v>
                </c:pt>
                <c:pt idx="16">
                  <c:v>43585</c:v>
                </c:pt>
                <c:pt idx="17">
                  <c:v>43616</c:v>
                </c:pt>
                <c:pt idx="18">
                  <c:v>43646</c:v>
                </c:pt>
                <c:pt idx="19">
                  <c:v>43677</c:v>
                </c:pt>
                <c:pt idx="20">
                  <c:v>43708</c:v>
                </c:pt>
                <c:pt idx="21">
                  <c:v>43738</c:v>
                </c:pt>
                <c:pt idx="22">
                  <c:v>43769</c:v>
                </c:pt>
                <c:pt idx="23">
                  <c:v>43799</c:v>
                </c:pt>
                <c:pt idx="24">
                  <c:v>43830</c:v>
                </c:pt>
                <c:pt idx="25">
                  <c:v>43861</c:v>
                </c:pt>
                <c:pt idx="26">
                  <c:v>43890</c:v>
                </c:pt>
                <c:pt idx="27">
                  <c:v>43921</c:v>
                </c:pt>
                <c:pt idx="28">
                  <c:v>43951</c:v>
                </c:pt>
              </c:numCache>
            </c:numRef>
          </c:cat>
          <c:val>
            <c:numRef>
              <c:f>Creditors!$B$3:$AD$3</c:f>
              <c:numCache>
                <c:formatCode>General</c:formatCode>
                <c:ptCount val="29"/>
                <c:pt idx="0">
                  <c:v>2136</c:v>
                </c:pt>
                <c:pt idx="1">
                  <c:v>1953</c:v>
                </c:pt>
                <c:pt idx="2">
                  <c:v>1833</c:v>
                </c:pt>
                <c:pt idx="3">
                  <c:v>1696</c:v>
                </c:pt>
                <c:pt idx="4">
                  <c:v>1546</c:v>
                </c:pt>
                <c:pt idx="5">
                  <c:v>1365</c:v>
                </c:pt>
                <c:pt idx="6">
                  <c:v>1274</c:v>
                </c:pt>
                <c:pt idx="7">
                  <c:v>1177</c:v>
                </c:pt>
                <c:pt idx="8">
                  <c:v>1113</c:v>
                </c:pt>
                <c:pt idx="9">
                  <c:v>1074</c:v>
                </c:pt>
                <c:pt idx="10">
                  <c:v>904</c:v>
                </c:pt>
                <c:pt idx="11">
                  <c:v>851</c:v>
                </c:pt>
                <c:pt idx="12">
                  <c:v>816</c:v>
                </c:pt>
                <c:pt idx="13">
                  <c:v>764</c:v>
                </c:pt>
                <c:pt idx="14">
                  <c:v>703</c:v>
                </c:pt>
                <c:pt idx="15">
                  <c:v>690</c:v>
                </c:pt>
                <c:pt idx="16">
                  <c:v>672</c:v>
                </c:pt>
                <c:pt idx="17">
                  <c:v>630</c:v>
                </c:pt>
                <c:pt idx="18">
                  <c:v>597</c:v>
                </c:pt>
                <c:pt idx="19">
                  <c:v>579</c:v>
                </c:pt>
                <c:pt idx="20">
                  <c:v>567</c:v>
                </c:pt>
                <c:pt idx="21">
                  <c:v>550</c:v>
                </c:pt>
                <c:pt idx="22">
                  <c:v>543</c:v>
                </c:pt>
                <c:pt idx="23">
                  <c:v>526</c:v>
                </c:pt>
                <c:pt idx="24">
                  <c:v>516</c:v>
                </c:pt>
                <c:pt idx="25">
                  <c:v>512</c:v>
                </c:pt>
                <c:pt idx="26">
                  <c:v>503</c:v>
                </c:pt>
                <c:pt idx="27">
                  <c:v>445</c:v>
                </c:pt>
                <c:pt idx="28">
                  <c:v>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36-49E2-9E84-C1693B770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8773552"/>
        <c:axId val="1078771888"/>
      </c:lineChart>
      <c:dateAx>
        <c:axId val="1078773552"/>
        <c:scaling>
          <c:orientation val="minMax"/>
        </c:scaling>
        <c:delete val="0"/>
        <c:axPos val="b"/>
        <c:numFmt formatCode="mm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771888"/>
        <c:crosses val="autoZero"/>
        <c:auto val="1"/>
        <c:lblOffset val="100"/>
        <c:baseTimeUnit val="months"/>
      </c:dateAx>
      <c:valAx>
        <c:axId val="107877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77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sz="1200" b="1" i="0" baseline="0">
                <a:effectLst/>
              </a:rPr>
              <a:t>მისოების რაოდენობა კრედიტორი ფ.პირების რაოდენობის მიხედვით</a:t>
            </a:r>
            <a:endParaRPr lang="en-US" sz="120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Creditors!$A$24</c:f>
              <c:strCache>
                <c:ptCount val="1"/>
                <c:pt idx="0">
                  <c:v>20-ზე მეტი კრედიტორი ფ.პირი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Creditors!$B$23:$E$23</c:f>
              <c:strCache>
                <c:ptCount val="4"/>
                <c:pt idx="0">
                  <c:v>12.2017</c:v>
                </c:pt>
                <c:pt idx="1">
                  <c:v>12.2018</c:v>
                </c:pt>
                <c:pt idx="2">
                  <c:v>12.2019</c:v>
                </c:pt>
                <c:pt idx="3">
                  <c:v>4.2020</c:v>
                </c:pt>
              </c:strCache>
            </c:strRef>
          </c:cat>
          <c:val>
            <c:numRef>
              <c:f>Creditors!$B$24:$E$24</c:f>
              <c:numCache>
                <c:formatCode>_-* #\ ##0_-;\-* #\ ##0_-;_-* "-"??_-;_-@_-</c:formatCode>
                <c:ptCount val="4"/>
                <c:pt idx="0">
                  <c:v>16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68-47E1-AB55-460CB5D613E6}"/>
            </c:ext>
          </c:extLst>
        </c:ser>
        <c:ser>
          <c:idx val="1"/>
          <c:order val="1"/>
          <c:tx>
            <c:strRef>
              <c:f>Creditors!$A$25</c:f>
              <c:strCache>
                <c:ptCount val="1"/>
                <c:pt idx="0">
                  <c:v> 1 - 20 კრედიტორი ფ.პირი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Creditors!$B$23:$E$23</c:f>
              <c:strCache>
                <c:ptCount val="4"/>
                <c:pt idx="0">
                  <c:v>12.2017</c:v>
                </c:pt>
                <c:pt idx="1">
                  <c:v>12.2018</c:v>
                </c:pt>
                <c:pt idx="2">
                  <c:v>12.2019</c:v>
                </c:pt>
                <c:pt idx="3">
                  <c:v>4.2020</c:v>
                </c:pt>
              </c:strCache>
            </c:strRef>
          </c:cat>
          <c:val>
            <c:numRef>
              <c:f>Creditors!$B$25:$E$25</c:f>
              <c:numCache>
                <c:formatCode>_-* #\ ##0_-;\-* #\ ##0_-;_-* "-"??_-;_-@_-</c:formatCode>
                <c:ptCount val="4"/>
                <c:pt idx="0">
                  <c:v>28</c:v>
                </c:pt>
                <c:pt idx="1">
                  <c:v>34</c:v>
                </c:pt>
                <c:pt idx="2">
                  <c:v>25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68-47E1-AB55-460CB5D613E6}"/>
            </c:ext>
          </c:extLst>
        </c:ser>
        <c:ser>
          <c:idx val="2"/>
          <c:order val="2"/>
          <c:tx>
            <c:strRef>
              <c:f>Creditors!$A$26</c:f>
              <c:strCache>
                <c:ptCount val="1"/>
                <c:pt idx="0">
                  <c:v>არ ჰყავს კრედიტორი ფ.პირი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Creditors!$B$23:$E$23</c:f>
              <c:strCache>
                <c:ptCount val="4"/>
                <c:pt idx="0">
                  <c:v>12.2017</c:v>
                </c:pt>
                <c:pt idx="1">
                  <c:v>12.2018</c:v>
                </c:pt>
                <c:pt idx="2">
                  <c:v>12.2019</c:v>
                </c:pt>
                <c:pt idx="3">
                  <c:v>4.2020</c:v>
                </c:pt>
              </c:strCache>
            </c:strRef>
          </c:cat>
          <c:val>
            <c:numRef>
              <c:f>Creditors!$B$26:$E$26</c:f>
              <c:numCache>
                <c:formatCode>_-* #\ ##0_-;\-* #\ ##0_-;_-* "-"??_-;_-@_-</c:formatCode>
                <c:ptCount val="4"/>
                <c:pt idx="0">
                  <c:v>31</c:v>
                </c:pt>
                <c:pt idx="1">
                  <c:v>25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68-47E1-AB55-460CB5D613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46519072"/>
        <c:axId val="1546534464"/>
      </c:barChart>
      <c:catAx>
        <c:axId val="1546519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534464"/>
        <c:crosses val="autoZero"/>
        <c:auto val="1"/>
        <c:lblAlgn val="ctr"/>
        <c:lblOffset val="100"/>
        <c:noMultiLvlLbl val="0"/>
      </c:catAx>
      <c:valAx>
        <c:axId val="1546534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519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b="1" dirty="0"/>
              <a:t>ვალუტის</a:t>
            </a:r>
            <a:r>
              <a:rPr lang="ka-GE" b="1" baseline="0" dirty="0"/>
              <a:t> გადამცვლელი </a:t>
            </a:r>
            <a:r>
              <a:rPr lang="ka-GE" b="1" baseline="0" dirty="0" smtClean="0"/>
              <a:t>პუნქტების რაოდენობა</a:t>
            </a:r>
            <a:endParaRPr lang="ka-GE" b="1" dirty="0"/>
          </a:p>
        </c:rich>
      </c:tx>
      <c:layout>
        <c:manualLayout>
          <c:xMode val="edge"/>
          <c:yMode val="edge"/>
          <c:x val="0.1773956692913385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OTHERS!$A$48</c:f>
              <c:strCache>
                <c:ptCount val="1"/>
                <c:pt idx="0">
                  <c:v>რაოდენობა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OTHERS!$B$47:$H$47</c:f>
              <c:strCache>
                <c:ptCount val="7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I კვ 2019</c:v>
                </c:pt>
                <c:pt idx="4">
                  <c:v>II კვ 2019</c:v>
                </c:pt>
                <c:pt idx="5">
                  <c:v>III კვ 2019</c:v>
                </c:pt>
                <c:pt idx="6">
                  <c:v>IV კვ 2019</c:v>
                </c:pt>
              </c:strCache>
            </c:strRef>
          </c:cat>
          <c:val>
            <c:numRef>
              <c:f>OTHERS!$B$48:$H$48</c:f>
              <c:numCache>
                <c:formatCode>General</c:formatCode>
                <c:ptCount val="7"/>
                <c:pt idx="0">
                  <c:v>1200</c:v>
                </c:pt>
                <c:pt idx="1">
                  <c:v>1127</c:v>
                </c:pt>
                <c:pt idx="2">
                  <c:v>1018</c:v>
                </c:pt>
                <c:pt idx="3">
                  <c:v>970</c:v>
                </c:pt>
                <c:pt idx="4">
                  <c:v>908</c:v>
                </c:pt>
                <c:pt idx="5">
                  <c:v>856</c:v>
                </c:pt>
                <c:pt idx="6">
                  <c:v>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C-4AD0-AB94-317AA16E8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0821056"/>
        <c:axId val="2050827712"/>
      </c:barChart>
      <c:catAx>
        <c:axId val="2050821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827712"/>
        <c:crosses val="autoZero"/>
        <c:auto val="1"/>
        <c:lblAlgn val="ctr"/>
        <c:lblOffset val="100"/>
        <c:noMultiLvlLbl val="0"/>
      </c:catAx>
      <c:valAx>
        <c:axId val="205082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82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a-GE" b="1"/>
              <a:t>სესხის გამცემი სუბიექტები</a:t>
            </a:r>
            <a:endParaRPr lang="en-US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OTHERS!$A$8</c:f>
              <c:strCache>
                <c:ptCount val="1"/>
                <c:pt idx="0">
                  <c:v>მთლიანი აქტივები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OTHERS!$B$7:$D$7</c:f>
              <c:strCache>
                <c:ptCount val="3"/>
                <c:pt idx="0">
                  <c:v>II კვარტალი</c:v>
                </c:pt>
                <c:pt idx="1">
                  <c:v>III კვარტალი</c:v>
                </c:pt>
                <c:pt idx="2">
                  <c:v>IV კვარტალი</c:v>
                </c:pt>
              </c:strCache>
            </c:strRef>
          </c:cat>
          <c:val>
            <c:numRef>
              <c:f>OTHERS!$B$8:$D$8</c:f>
              <c:numCache>
                <c:formatCode>General</c:formatCode>
                <c:ptCount val="3"/>
                <c:pt idx="0">
                  <c:v>328000000</c:v>
                </c:pt>
                <c:pt idx="1">
                  <c:v>475000000</c:v>
                </c:pt>
                <c:pt idx="2">
                  <c:v>488000000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26-40E7-B1EE-2B058DC230B6}"/>
            </c:ext>
          </c:extLst>
        </c:ser>
        <c:ser>
          <c:idx val="1"/>
          <c:order val="1"/>
          <c:tx>
            <c:strRef>
              <c:f>OTHERS!$A$9</c:f>
              <c:strCache>
                <c:ptCount val="1"/>
                <c:pt idx="0">
                  <c:v>მთლიანი პორტფელი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OTHERS!$B$7:$D$7</c:f>
              <c:strCache>
                <c:ptCount val="3"/>
                <c:pt idx="0">
                  <c:v>II კვარტალი</c:v>
                </c:pt>
                <c:pt idx="1">
                  <c:v>III კვარტალი</c:v>
                </c:pt>
                <c:pt idx="2">
                  <c:v>IV კვარტალი</c:v>
                </c:pt>
              </c:strCache>
            </c:strRef>
          </c:cat>
          <c:val>
            <c:numRef>
              <c:f>OTHERS!$B$9:$D$9</c:f>
              <c:numCache>
                <c:formatCode>General</c:formatCode>
                <c:ptCount val="3"/>
                <c:pt idx="0">
                  <c:v>276000000</c:v>
                </c:pt>
                <c:pt idx="1">
                  <c:v>385000000</c:v>
                </c:pt>
                <c:pt idx="2">
                  <c:v>415000000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26-40E7-B1EE-2B058DC23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12128079"/>
        <c:axId val="812130991"/>
      </c:barChart>
      <c:lineChart>
        <c:grouping val="standard"/>
        <c:varyColors val="0"/>
        <c:ser>
          <c:idx val="2"/>
          <c:order val="2"/>
          <c:tx>
            <c:strRef>
              <c:f>OTHERS!$A$10</c:f>
              <c:strCache>
                <c:ptCount val="1"/>
                <c:pt idx="0">
                  <c:v>რაოდენობა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6666666666666666E-2"/>
                  <c:y val="-8.796296296296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DE26-40E7-B1EE-2B058DC230B6}"/>
                </c:ext>
              </c:extLst>
            </c:dLbl>
            <c:dLbl>
              <c:idx val="1"/>
              <c:layout>
                <c:manualLayout>
                  <c:x val="0"/>
                  <c:y val="-6.9444444444444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E26-40E7-B1EE-2B058DC230B6}"/>
                </c:ext>
              </c:extLst>
            </c:dLbl>
            <c:dLbl>
              <c:idx val="2"/>
              <c:layout>
                <c:manualLayout>
                  <c:x val="-4.003801248981808E-2"/>
                  <c:y val="-9.711682266131829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4896596977101996E-2"/>
                      <c:h val="7.82326548804040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DE26-40E7-B1EE-2B058DC230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OTHERS!$B$7:$D$7</c:f>
              <c:strCache>
                <c:ptCount val="3"/>
                <c:pt idx="0">
                  <c:v>II კვარტალი</c:v>
                </c:pt>
                <c:pt idx="1">
                  <c:v>III კვარტალი</c:v>
                </c:pt>
                <c:pt idx="2">
                  <c:v>IV კვარტალი</c:v>
                </c:pt>
              </c:strCache>
            </c:strRef>
          </c:cat>
          <c:val>
            <c:numRef>
              <c:f>OTHERS!$B$10:$D$10</c:f>
              <c:numCache>
                <c:formatCode>General</c:formatCode>
                <c:ptCount val="3"/>
                <c:pt idx="0">
                  <c:v>124</c:v>
                </c:pt>
                <c:pt idx="1">
                  <c:v>182</c:v>
                </c:pt>
                <c:pt idx="2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E26-40E7-B1EE-2B058DC23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9116240"/>
        <c:axId val="479113328"/>
      </c:lineChart>
      <c:catAx>
        <c:axId val="812128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2130991"/>
        <c:crosses val="autoZero"/>
        <c:auto val="1"/>
        <c:lblAlgn val="ctr"/>
        <c:lblOffset val="100"/>
        <c:noMultiLvlLbl val="0"/>
      </c:catAx>
      <c:valAx>
        <c:axId val="812130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2128079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47911332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9116240"/>
        <c:crosses val="max"/>
        <c:crossBetween val="between"/>
      </c:valAx>
      <c:catAx>
        <c:axId val="4791162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91133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B9925-CB2D-445A-8999-842A58E0D1F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AF3CF-AABA-47EF-AD41-F79E698F5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2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3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7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7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4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3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0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4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1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3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9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B679-0248-46DF-BA93-F7A229B3E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4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0A615-BD6F-44EF-B50B-1558F87672CA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7B679-0248-46DF-BA93-F7A229B3E00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4" y="185738"/>
            <a:ext cx="2866667" cy="666667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62370" y="119641"/>
            <a:ext cx="11861563" cy="6601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9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70205"/>
            <a:ext cx="9144000" cy="939758"/>
          </a:xfrm>
        </p:spPr>
        <p:txBody>
          <a:bodyPr>
            <a:normAutofit/>
          </a:bodyPr>
          <a:lstStyle/>
          <a:p>
            <a:r>
              <a:rPr lang="ka-GE" sz="4400" dirty="0" smtClean="0"/>
              <a:t>არასაბანკო სექტორის მიმოხილვა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0151" y="5109562"/>
            <a:ext cx="3591697" cy="772254"/>
          </a:xfrm>
        </p:spPr>
        <p:txBody>
          <a:bodyPr>
            <a:normAutofit/>
          </a:bodyPr>
          <a:lstStyle/>
          <a:p>
            <a:r>
              <a:rPr lang="ka-GE" dirty="0" smtClean="0"/>
              <a:t>აპრილი, 2020 წელი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027" y="612559"/>
            <a:ext cx="4698496" cy="109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694954"/>
              </p:ext>
            </p:extLst>
          </p:nvPr>
        </p:nvGraphicFramePr>
        <p:xfrm>
          <a:off x="744439" y="3794242"/>
          <a:ext cx="4648200" cy="2480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230037" y="361572"/>
            <a:ext cx="7123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b="1" dirty="0" smtClean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ea typeface="+mj-ea"/>
                <a:cs typeface="+mj-cs"/>
              </a:rPr>
              <a:t>მიკროსაფინანსო ორგანიზაციების ფინანსური მაჩვენებლები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Sylfaen" panose="010A0502050306030303" pitchFamily="18" charset="0"/>
              <a:ea typeface="+mj-ea"/>
              <a:cs typeface="+mj-cs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2526235"/>
              </p:ext>
            </p:extLst>
          </p:nvPr>
        </p:nvGraphicFramePr>
        <p:xfrm>
          <a:off x="6269043" y="1195403"/>
          <a:ext cx="4661716" cy="2494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3674694722"/>
              </p:ext>
            </p:extLst>
          </p:nvPr>
        </p:nvGraphicFramePr>
        <p:xfrm>
          <a:off x="6269043" y="4196737"/>
          <a:ext cx="4371975" cy="1932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8238006"/>
              </p:ext>
            </p:extLst>
          </p:nvPr>
        </p:nvGraphicFramePr>
        <p:xfrm>
          <a:off x="820639" y="1119791"/>
          <a:ext cx="4572000" cy="2343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5093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30037" y="361572"/>
            <a:ext cx="7123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b="1" dirty="0" smtClean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ea typeface="+mj-ea"/>
                <a:cs typeface="+mj-cs"/>
              </a:rPr>
              <a:t>მიკროსაფინანსო ორგანიზაციების ფინანსური მაჩვენებლები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Sylfaen" panose="010A0502050306030303" pitchFamily="18" charset="0"/>
              <a:ea typeface="+mj-ea"/>
              <a:cs typeface="+mj-cs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667697"/>
              </p:ext>
            </p:extLst>
          </p:nvPr>
        </p:nvGraphicFramePr>
        <p:xfrm>
          <a:off x="712908" y="3774952"/>
          <a:ext cx="4648200" cy="2503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2621157"/>
              </p:ext>
            </p:extLst>
          </p:nvPr>
        </p:nvGraphicFramePr>
        <p:xfrm>
          <a:off x="903260" y="1314533"/>
          <a:ext cx="4572000" cy="2249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56403036"/>
              </p:ext>
            </p:extLst>
          </p:nvPr>
        </p:nvGraphicFramePr>
        <p:xfrm>
          <a:off x="6364671" y="3825098"/>
          <a:ext cx="4381500" cy="2403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1387231844"/>
              </p:ext>
            </p:extLst>
          </p:nvPr>
        </p:nvGraphicFramePr>
        <p:xfrm>
          <a:off x="6364671" y="1266930"/>
          <a:ext cx="4397375" cy="2344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7062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>
            <a:graphicFrameLocks/>
          </p:cNvGraphicFramePr>
          <p:nvPr>
            <p:extLst/>
          </p:nvPr>
        </p:nvGraphicFramePr>
        <p:xfrm>
          <a:off x="701552" y="1267023"/>
          <a:ext cx="5617355" cy="2771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 txBox="1">
            <a:spLocks/>
          </p:cNvSpPr>
          <p:nvPr/>
        </p:nvSpPr>
        <p:spPr>
          <a:xfrm>
            <a:off x="5382692" y="357196"/>
            <a:ext cx="3097579" cy="4381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000" b="1" dirty="0" smtClean="0"/>
              <a:t>საკრედიტო პორტფელი</a:t>
            </a:r>
            <a:endParaRPr lang="en-US" sz="2000" b="1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667297"/>
              </p:ext>
            </p:extLst>
          </p:nvPr>
        </p:nvGraphicFramePr>
        <p:xfrm>
          <a:off x="777766" y="3984161"/>
          <a:ext cx="5717627" cy="2332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833376"/>
              </p:ext>
            </p:extLst>
          </p:nvPr>
        </p:nvGraphicFramePr>
        <p:xfrm>
          <a:off x="6850949" y="1250200"/>
          <a:ext cx="4705350" cy="2458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9111818"/>
              </p:ext>
            </p:extLst>
          </p:nvPr>
        </p:nvGraphicFramePr>
        <p:xfrm>
          <a:off x="7032624" y="3708411"/>
          <a:ext cx="4036216" cy="2565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4019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5007405" y="396010"/>
            <a:ext cx="5389315" cy="419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000" b="1" dirty="0" smtClean="0"/>
              <a:t>ფიზიკური პირებისგან მოზიდული სახსრები</a:t>
            </a:r>
            <a:endParaRPr lang="en-US" sz="2000" b="1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/>
          </p:nvPr>
        </p:nvGraphicFramePr>
        <p:xfrm>
          <a:off x="721350" y="1173571"/>
          <a:ext cx="5524110" cy="2495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/>
          </p:nvPr>
        </p:nvGraphicFramePr>
        <p:xfrm>
          <a:off x="721350" y="4013481"/>
          <a:ext cx="5524110" cy="2361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308656"/>
              </p:ext>
            </p:extLst>
          </p:nvPr>
        </p:nvGraphicFramePr>
        <p:xfrm>
          <a:off x="6889866" y="2056665"/>
          <a:ext cx="4388649" cy="2552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6523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052513" y="281105"/>
            <a:ext cx="6264987" cy="3657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1800" b="1" dirty="0" smtClean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</a:rPr>
              <a:t>სხვა არასაბანკო </a:t>
            </a:r>
            <a:r>
              <a:rPr lang="ka-GE" sz="1800" b="1" dirty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</a:rPr>
              <a:t>დაწესებულებების მაჩვენებლები</a:t>
            </a:r>
            <a:endParaRPr lang="en-US" sz="1800" b="1" dirty="0">
              <a:solidFill>
                <a:schemeClr val="accent5">
                  <a:lumMod val="50000"/>
                </a:schemeClr>
              </a:solidFill>
              <a:latin typeface="Sylfaen" panose="010A0502050306030303" pitchFamily="18" charset="0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9714460"/>
              </p:ext>
            </p:extLst>
          </p:nvPr>
        </p:nvGraphicFramePr>
        <p:xfrm>
          <a:off x="6307836" y="1194263"/>
          <a:ext cx="4572000" cy="3242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9994608"/>
              </p:ext>
            </p:extLst>
          </p:nvPr>
        </p:nvGraphicFramePr>
        <p:xfrm>
          <a:off x="786383" y="1194263"/>
          <a:ext cx="4857671" cy="3063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7053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4418</TotalTime>
  <Words>98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Sylfaen</vt:lpstr>
      <vt:lpstr>Office Theme</vt:lpstr>
      <vt:lpstr>არასაბანკო სექტორის მიმოხილვა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მიკროსაფინანსო სექტორი</dc:title>
  <dc:creator>Mariam Chighitashvili</dc:creator>
  <cp:lastModifiedBy>Natia Tsotsonava</cp:lastModifiedBy>
  <cp:revision>189</cp:revision>
  <dcterms:created xsi:type="dcterms:W3CDTF">2020-01-09T06:31:17Z</dcterms:created>
  <dcterms:modified xsi:type="dcterms:W3CDTF">2020-06-05T16:38:36Z</dcterms:modified>
</cp:coreProperties>
</file>